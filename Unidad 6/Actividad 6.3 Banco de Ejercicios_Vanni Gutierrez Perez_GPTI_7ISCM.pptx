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7" r:id="rId3"/>
    <p:sldId id="291" r:id="rId4"/>
    <p:sldId id="276" r:id="rId5"/>
    <p:sldId id="294" r:id="rId6"/>
    <p:sldId id="295" r:id="rId7"/>
    <p:sldId id="297" r:id="rId8"/>
    <p:sldId id="298" r:id="rId9"/>
    <p:sldId id="300" r:id="rId10"/>
    <p:sldId id="299" r:id="rId11"/>
    <p:sldId id="301" r:id="rId12"/>
    <p:sldId id="302" r:id="rId13"/>
    <p:sldId id="303" r:id="rId14"/>
    <p:sldId id="304" r:id="rId15"/>
    <p:sldId id="305" r:id="rId16"/>
    <p:sldId id="292" r:id="rId17"/>
    <p:sldId id="293"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90ECC-D9D9-4C08-83F1-059554AE949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6F4A831-8019-4006-9402-7C60FA32D4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D71F55B-3B2C-4E07-B697-19E8294480C3}"/>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B7C4663B-8C73-4ADF-B7DF-CC260CDEA9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50F993-4820-4195-9224-9FB19D76D6C6}"/>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3595295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D2CB6-DC5E-4A2D-A041-10CD8891480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D955FBD-15CE-4515-9D55-8FCED7AF88D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1B4EEF-22DA-47C2-97ED-788F5A7353FC}"/>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D7A76909-4BBC-44B0-A039-8892C8B4E4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5F4F108-05C2-4E85-BD2D-976DEC2572B6}"/>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2154430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98086-7FEB-4090-BF24-5B8C96FD9CE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1FBBB0-54DB-414C-BD8D-C5DDC97B88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692F87-A2A5-4980-B462-E35EA6A8AFAA}"/>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11224E22-054C-4B64-8C02-636EB428BFF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7170A6-D61C-49C6-83B5-1BB9B4BA81DC}"/>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3933385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0E4AD2-4392-4AE2-9C0E-0097DC2D6B9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418CC76-0358-4448-8111-7789DB178C0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94837F6-04D1-4906-9058-D1F513BDEA4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128B4DA-8890-4D72-8AB3-297E4F5A3139}"/>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6" name="Marcador de pie de página 5">
            <a:extLst>
              <a:ext uri="{FF2B5EF4-FFF2-40B4-BE49-F238E27FC236}">
                <a16:creationId xmlns:a16="http://schemas.microsoft.com/office/drawing/2014/main" id="{00E8CD72-434D-4E10-837D-54B8A2803ED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EA634EF-D384-48C9-B50F-315BAF5BC549}"/>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3754813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1F172-E902-4A1E-93C2-362DD65737B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30EC566-CE21-44A8-AA30-70D78B0C08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A704C78-A850-4BCF-9D46-8A969AAA45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4175E8A-FC8C-4E75-987A-B0519B3FF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2FA7135-080A-4E31-9669-A73F5BC074F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F8ECCE2-FA9C-4FF9-8685-B46CF5363D6B}"/>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8" name="Marcador de pie de página 7">
            <a:extLst>
              <a:ext uri="{FF2B5EF4-FFF2-40B4-BE49-F238E27FC236}">
                <a16:creationId xmlns:a16="http://schemas.microsoft.com/office/drawing/2014/main" id="{92423D72-3894-4528-B918-CA5DD9FF0A5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22A3C3B-A399-4A7F-9556-4F593FE29643}"/>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4074276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EAF8AA-2768-4AD9-BD4E-E27A91D08C8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09E9E15-7868-42B2-90FD-C695819AD386}"/>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4" name="Marcador de pie de página 3">
            <a:extLst>
              <a:ext uri="{FF2B5EF4-FFF2-40B4-BE49-F238E27FC236}">
                <a16:creationId xmlns:a16="http://schemas.microsoft.com/office/drawing/2014/main" id="{AA466334-F411-4BB4-A359-0D4D865A294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447BF90-35C6-4EDC-89AD-E5F992A834D8}"/>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1826857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1C7EA3-D6D4-48EC-98B2-2D0CF9E664A1}"/>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3" name="Marcador de pie de página 2">
            <a:extLst>
              <a:ext uri="{FF2B5EF4-FFF2-40B4-BE49-F238E27FC236}">
                <a16:creationId xmlns:a16="http://schemas.microsoft.com/office/drawing/2014/main" id="{0F62680A-3F64-4994-B4DA-5E9454D6AB3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A6959F4-F91F-4B52-840B-831F379D977D}"/>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2225416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1782D-F4F1-43A3-B084-939ED79AD98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A14A1C4-60A9-47A5-827A-E4259BE261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AE4DD60-8763-447E-A977-15E5AFF14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BDB0233-4E2C-4EFE-873D-8F5E40A0A960}"/>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6" name="Marcador de pie de página 5">
            <a:extLst>
              <a:ext uri="{FF2B5EF4-FFF2-40B4-BE49-F238E27FC236}">
                <a16:creationId xmlns:a16="http://schemas.microsoft.com/office/drawing/2014/main" id="{8006280C-8EBD-4A76-A5E9-31A63D5FC07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8AE8B89-C17E-48C6-8914-CCD0E09B4B82}"/>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1710398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79896A-6816-42DA-94C6-F0CF988248C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512CF0-0A0D-45C1-84DE-BCBF95905E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55D7CCB-CAED-4880-B9FE-8A4834AC7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D1FBFE-145D-4888-A868-A7C258D0D7EF}"/>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6" name="Marcador de pie de página 5">
            <a:extLst>
              <a:ext uri="{FF2B5EF4-FFF2-40B4-BE49-F238E27FC236}">
                <a16:creationId xmlns:a16="http://schemas.microsoft.com/office/drawing/2014/main" id="{8837B4B3-F591-4EB4-B2CA-DBF860F681B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D65DED5-8C02-4EA7-81D1-5C025248BB72}"/>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92541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C693F-90AC-48AD-A164-50413A0EBD5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4FADEA9-83F7-429B-8F88-DC5E6785710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7478D22-A244-41FD-9205-7860BE3A2D76}"/>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24E6B839-491D-426D-B152-8D7ADCF1A54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F3719FD-197D-422C-B2DA-34FB91AD6F20}"/>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113494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D9D2A81-4B0C-43DF-BEB1-EC1ACCFDE42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2DD34E4-868F-4912-9A4D-6DE27AB2EF8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3628E1-BFAB-4193-B5C1-95427A819CBA}"/>
              </a:ext>
            </a:extLst>
          </p:cNvPr>
          <p:cNvSpPr>
            <a:spLocks noGrp="1"/>
          </p:cNvSpPr>
          <p:nvPr>
            <p:ph type="dt" sz="half" idx="10"/>
          </p:nvPr>
        </p:nvSpPr>
        <p:spPr/>
        <p:txBody>
          <a:body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4DDD8479-2A46-488E-9E1A-EC369E43F4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7BCBE8-51EF-4442-9870-30CE6471A8F9}"/>
              </a:ext>
            </a:extLst>
          </p:cNvPr>
          <p:cNvSpPr>
            <a:spLocks noGrp="1"/>
          </p:cNvSpPr>
          <p:nvPr>
            <p:ph type="sldNum" sz="quarter" idx="12"/>
          </p:nvPr>
        </p:nvSpPr>
        <p:spPr/>
        <p:txBody>
          <a:bodyPr/>
          <a:lstStyle/>
          <a:p>
            <a:fld id="{84240B6D-EC1A-4C0C-9466-15C8150AC354}" type="slidenum">
              <a:rPr lang="es-MX" smtClean="0"/>
              <a:t>‹Nº›</a:t>
            </a:fld>
            <a:endParaRPr lang="es-MX"/>
          </a:p>
        </p:txBody>
      </p:sp>
    </p:spTree>
    <p:extLst>
      <p:ext uri="{BB962C8B-B14F-4D97-AF65-F5344CB8AC3E}">
        <p14:creationId xmlns:p14="http://schemas.microsoft.com/office/powerpoint/2010/main" val="3479436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1CC9799-A1C0-4F46-85A5-3747818CDA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C6FA3FF-D309-4A79-8F6C-C9B09CF86E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7675A88-0AFB-4276-8CF6-91E029C7DF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64E313-1BBE-48C5-9FAB-6E50495F1CA3}" type="datetimeFigureOut">
              <a:rPr lang="es-MX" smtClean="0"/>
              <a:t>02/10/2026</a:t>
            </a:fld>
            <a:endParaRPr lang="es-MX"/>
          </a:p>
        </p:txBody>
      </p:sp>
      <p:sp>
        <p:nvSpPr>
          <p:cNvPr id="5" name="Marcador de pie de página 4">
            <a:extLst>
              <a:ext uri="{FF2B5EF4-FFF2-40B4-BE49-F238E27FC236}">
                <a16:creationId xmlns:a16="http://schemas.microsoft.com/office/drawing/2014/main" id="{9A8DCBC2-6BE7-4F4D-ADE8-F83D1D5166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33525E5-B829-46A7-BA67-06E82F72E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240B6D-EC1A-4C0C-9466-15C8150AC354}" type="slidenum">
              <a:rPr lang="es-MX" smtClean="0"/>
              <a:t>‹Nº›</a:t>
            </a:fld>
            <a:endParaRPr lang="es-MX"/>
          </a:p>
        </p:txBody>
      </p:sp>
    </p:spTree>
    <p:extLst>
      <p:ext uri="{BB962C8B-B14F-4D97-AF65-F5344CB8AC3E}">
        <p14:creationId xmlns:p14="http://schemas.microsoft.com/office/powerpoint/2010/main" val="3936813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Vanni-GP/GPTI" TargetMode="External"/><Relationship Id="rId1" Type="http://schemas.openxmlformats.org/officeDocument/2006/relationships/slideLayout" Target="../slideLayouts/slideLayout1.xml"/><Relationship Id="rId5" Type="http://schemas.openxmlformats.org/officeDocument/2006/relationships/image" Target="../media/image3.tm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riskonnect.com/es/gestion-de-riesgos-del-proyecto/5-tecnicas-clave-de-mitigacion-de-riesgos-en-la-gestion-de-proyectos/" TargetMode="External"/><Relationship Id="rId3" Type="http://schemas.openxmlformats.org/officeDocument/2006/relationships/hyperlink" Target="https://projectmanagementacademy.net/resources/blog/identify-risk-in-project-management/" TargetMode="External"/><Relationship Id="rId7" Type="http://schemas.openxmlformats.org/officeDocument/2006/relationships/hyperlink" Target="https://www.atlassian.com/es/work-management/project-management/risk-mitigation"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hyperlink" Target="https://jefedeproyectos.com/analisis-cualitativo-vs-cuantitativo-riesgos-proyectos/" TargetMode="External"/><Relationship Id="rId5" Type="http://schemas.openxmlformats.org/officeDocument/2006/relationships/hyperlink" Target="https://mitti.com/es/temas/analisis-cualitativo" TargetMode="External"/><Relationship Id="rId4" Type="http://schemas.openxmlformats.org/officeDocument/2006/relationships/hyperlink" Target="https://www.aden.org/business-magazine/gestion-de-proyectos-tecnicas-de-identificacion-de-riesg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5158015"/>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Gestión de Proyectos de 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Séptimo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Banco de Ejercicios: </a:t>
            </a:r>
            <a:r>
              <a:rPr lang="es-ES" dirty="0">
                <a:effectLst/>
                <a:latin typeface="Arial" panose="020B0604020202020204" pitchFamily="34" charset="0"/>
                <a:ea typeface="Calibri" panose="020F0502020204030204" pitchFamily="34" charset="0"/>
                <a:cs typeface="Times New Roman" panose="02020603050405020304" pitchFamily="18" charset="0"/>
              </a:rPr>
              <a:t>Evaluación y Cierre de Proyectos</a:t>
            </a: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 </a:t>
            </a:r>
            <a:r>
              <a:rPr lang="es-MX" dirty="0">
                <a:latin typeface="Arial" panose="020B0604020202020204" pitchFamily="34" charset="0"/>
                <a:ea typeface="Calibri" panose="020F0502020204030204" pitchFamily="34" charset="0"/>
                <a:cs typeface="Times New Roman" panose="02020603050405020304" pitchFamily="18" charset="0"/>
              </a:rPr>
              <a:t>04 </a:t>
            </a:r>
            <a:r>
              <a:rPr lang="es-MX">
                <a:latin typeface="Arial" panose="020B0604020202020204" pitchFamily="34" charset="0"/>
                <a:ea typeface="Calibri" panose="020F0502020204030204" pitchFamily="34" charset="0"/>
                <a:cs typeface="Times New Roman" panose="02020603050405020304" pitchFamily="18" charset="0"/>
              </a:rPr>
              <a:t>de octubre del </a:t>
            </a:r>
            <a:r>
              <a:rPr lang="es-MX" dirty="0">
                <a:latin typeface="Arial" panose="020B0604020202020204" pitchFamily="34" charset="0"/>
                <a:ea typeface="Calibri" panose="020F0502020204030204" pitchFamily="34" charset="0"/>
                <a:cs typeface="Times New Roman" panose="02020603050405020304" pitchFamily="18" charset="0"/>
              </a:rPr>
              <a:t>2026</a:t>
            </a:r>
          </a:p>
          <a:p>
            <a:pPr algn="ctr">
              <a:lnSpc>
                <a:spcPct val="106000"/>
              </a:lnSpc>
              <a:spcAft>
                <a:spcPts val="800"/>
              </a:spcAft>
            </a:pP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sz="1400" dirty="0">
                <a:effectLst/>
                <a:latin typeface="Arial" panose="020B0604020202020204" pitchFamily="34" charset="0"/>
                <a:ea typeface="Calibri" panose="020F0502020204030204" pitchFamily="34" charset="0"/>
                <a:cs typeface="Times New Roman" panose="02020603050405020304" pitchFamily="18" charset="0"/>
              </a:rPr>
              <a:t>Link del Repositorio G</a:t>
            </a:r>
            <a:r>
              <a:rPr lang="es-MX" sz="1400" dirty="0">
                <a:latin typeface="Arial" panose="020B0604020202020204" pitchFamily="34" charset="0"/>
                <a:ea typeface="Calibri" panose="020F0502020204030204" pitchFamily="34" charset="0"/>
                <a:cs typeface="Times New Roman" panose="02020603050405020304" pitchFamily="18" charset="0"/>
              </a:rPr>
              <a:t>IT: </a:t>
            </a:r>
            <a:r>
              <a:rPr lang="es-MX" sz="1400" dirty="0">
                <a:hlinkClick r:id="rId2"/>
              </a:rPr>
              <a:t>Vanni-GP/GPTI</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7830820" y="295275"/>
            <a:ext cx="1179830" cy="844773"/>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447675" y="941628"/>
            <a:ext cx="10944225" cy="4611519"/>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124450" y="46731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542925" y="941629"/>
            <a:ext cx="10706100" cy="4611519"/>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En este segundo reporte de la Unidad 6 presento la documentación final integral que consolida las lecciones aprendidas durante el ciclo de vida del desarrollo, el Manual de Usuario Unificado para la operación de las simulaciones y el Acta de Cierre Formal del portafolio. Como gestor, sistematicé las soluciones técnicas descubiertas ante los fallos de interoperabilidad de archivos XML, los errores de sintaxis en eventos temporizados y el desorden gráfico en procesos extensos, transformando los imprevistos de la fase de modelado en un activo de conocimiento reusable para futuros proyectos de ingeniería en sistemas. Adicionalmente, estructuré una guía operativa detallada paso a paso para que cualquier estudiante, usuario o catedrático pueda abrir, navegar y ejecutar las simulaciones de </a:t>
            </a:r>
            <a:r>
              <a:rPr lang="es-ES" dirty="0" err="1">
                <a:latin typeface="Arial" panose="020B0604020202020204" pitchFamily="34" charset="0"/>
                <a:cs typeface="Arial" panose="020B0604020202020204" pitchFamily="34" charset="0"/>
              </a:rPr>
              <a:t>Multired</a:t>
            </a:r>
            <a:r>
              <a:rPr lang="es-ES" dirty="0">
                <a:latin typeface="Arial" panose="020B0604020202020204" pitchFamily="34" charset="0"/>
                <a:cs typeface="Arial" panose="020B0604020202020204" pitchFamily="34" charset="0"/>
              </a:rPr>
              <a:t>, Empresa Corona y Aeropuerto en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Draw.io y Bonita Studio. Este informe culmina con la firma del finiquito administrativo, liberando formalmente al equipo de trabajo y confirmando la correcta inversión de las 74.5 horas técnicas y del presupuesto de $3,725.00 MXN.</a:t>
            </a:r>
          </a:p>
        </p:txBody>
      </p:sp>
    </p:spTree>
    <p:extLst>
      <p:ext uri="{BB962C8B-B14F-4D97-AF65-F5344CB8AC3E}">
        <p14:creationId xmlns:p14="http://schemas.microsoft.com/office/powerpoint/2010/main" val="2333110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4274076"/>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4196020"/>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El desarrollo de esta documentación final y manual de operación se justifica en la necesidad de transferir el conocimiento técnico generado para que los entregables no queden como archivos estáticos e incomprensibles. En la industria del software, un proyecto únicamente se considera concluido cuando se entrega la guía de usuario que permite operar las aplicaciones sin requerir la presencia continua de los desarrolladores. Compilar la bitácora de lecciones aprendidas documenta las mejores prácticas y evita que futuros equipos cometan los mismos errores al exportar modelos entre herramientas BPMN. Por su parte, la inclusión del Acta de Cierre Formal legaliza institucionalmente la finalización del trabajo, garantizando la transparencia en el uso de los recursos asignados y dando cumplimiento total al temario oficial de la materia.</a:t>
            </a:r>
          </a:p>
        </p:txBody>
      </p:sp>
    </p:spTree>
    <p:extLst>
      <p:ext uri="{BB962C8B-B14F-4D97-AF65-F5344CB8AC3E}">
        <p14:creationId xmlns:p14="http://schemas.microsoft.com/office/powerpoint/2010/main" val="283291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23026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LECCIONES APRENDIDAS (SUBTEMA 6.2)</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3416320"/>
          </a:xfrm>
          <a:prstGeom prst="rect">
            <a:avLst/>
          </a:prstGeom>
          <a:noFill/>
        </p:spPr>
        <p:txBody>
          <a:bodyPr wrap="square">
            <a:spAutoFit/>
          </a:bodyPr>
          <a:lstStyle/>
          <a:p>
            <a:pPr algn="just"/>
            <a:r>
              <a:rPr lang="es-ES" dirty="0">
                <a:latin typeface="Arial" panose="020B0604020202020204" pitchFamily="34" charset="0"/>
                <a:cs typeface="Arial" panose="020B0604020202020204" pitchFamily="34" charset="0"/>
              </a:rPr>
              <a:t> Buenas Prácticas y Factores de Éxito (Lo que funcionó)</a:t>
            </a:r>
          </a:p>
          <a:p>
            <a:pPr algn="just"/>
            <a:r>
              <a:rPr lang="es-ES" dirty="0">
                <a:latin typeface="Arial" panose="020B0604020202020204" pitchFamily="34" charset="0"/>
                <a:cs typeface="Arial" panose="020B0604020202020204" pitchFamily="34" charset="0"/>
              </a:rPr>
              <a:t>Adopción del Esquema de Gestión Híbrido: Combinar Microsoft Project para el control rígido de rutas críticas, duraciones y costos por hora, con Trello para la asignación diaria de tareas mediante tableros Kanban, redujo la burocracia administrativa y mantuvo al equipo enfocado en el desarrollo.</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Prototipado Previo en Draw.io: Dibujar y validar la lógica gráfica de los flujos en Draw.io antes de construirlos directamente en motores complejos como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o Bonita Studio evitó rehacer diagramas completos por fallos de sintaxis.</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Política de Respaldos Versionados: Guardar copias diarias con la nomenclatura Proyecto_V1.bpmn, Proyecto_V2.bpmn en carpetas locales y en la nube garantizó que ante cualquier corrupción de archivo se perdieran como máximo 3 horas de trabajo.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LECCIONES APRENDIDAS (SUBTEMA 6.2)</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4801314"/>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Problemas Detectados y Soluciones de Ingeniería Aplicadas (Lo que se corrigió)</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Incompatibilidad de Etiquetas XML de Bizagi</a:t>
            </a:r>
            <a:r>
              <a:rPr lang="es-ES" dirty="0">
                <a:latin typeface="Arial" panose="020B0604020202020204" pitchFamily="34" charset="0"/>
                <a:cs typeface="Arial" panose="020B0604020202020204" pitchFamily="34" charset="0"/>
              </a:rPr>
              <a:t>: Bizagi agrega extensiones propietarias al exportar archivos .</a:t>
            </a:r>
            <a:r>
              <a:rPr lang="es-ES" dirty="0" err="1">
                <a:latin typeface="Arial" panose="020B0604020202020204" pitchFamily="34" charset="0"/>
                <a:cs typeface="Arial" panose="020B0604020202020204" pitchFamily="34" charset="0"/>
              </a:rPr>
              <a:t>bpmn</a:t>
            </a:r>
            <a:r>
              <a:rPr lang="es-ES" dirty="0">
                <a:latin typeface="Arial" panose="020B0604020202020204" pitchFamily="34" charset="0"/>
                <a:cs typeface="Arial" panose="020B0604020202020204" pitchFamily="34" charset="0"/>
              </a:rPr>
              <a:t>.</a:t>
            </a:r>
          </a:p>
          <a:p>
            <a:r>
              <a:rPr lang="es-ES" b="1" dirty="0">
                <a:latin typeface="Arial" panose="020B0604020202020204" pitchFamily="34" charset="0"/>
                <a:cs typeface="Arial" panose="020B0604020202020204" pitchFamily="34" charset="0"/>
              </a:rPr>
              <a:t>Solución</a:t>
            </a:r>
            <a:r>
              <a:rPr lang="es-ES" dirty="0">
                <a:latin typeface="Arial" panose="020B0604020202020204" pitchFamily="34" charset="0"/>
                <a:cs typeface="Arial" panose="020B0604020202020204" pitchFamily="34" charset="0"/>
              </a:rPr>
              <a:t>: En lugar de redibujar el diagrama en Bonita Studio, se abrió el archivo .</a:t>
            </a:r>
            <a:r>
              <a:rPr lang="es-ES" dirty="0" err="1">
                <a:latin typeface="Arial" panose="020B0604020202020204" pitchFamily="34" charset="0"/>
                <a:cs typeface="Arial" panose="020B0604020202020204" pitchFamily="34" charset="0"/>
              </a:rPr>
              <a:t>xml</a:t>
            </a:r>
            <a:r>
              <a:rPr lang="es-ES" dirty="0">
                <a:latin typeface="Arial" panose="020B0604020202020204" pitchFamily="34" charset="0"/>
                <a:cs typeface="Arial" panose="020B0604020202020204" pitchFamily="34" charset="0"/>
              </a:rPr>
              <a:t> en un editor de texto plano (Notepad++ / VS </a:t>
            </a:r>
            <a:r>
              <a:rPr lang="es-ES" dirty="0" err="1">
                <a:latin typeface="Arial" panose="020B0604020202020204" pitchFamily="34" charset="0"/>
                <a:cs typeface="Arial" panose="020B0604020202020204" pitchFamily="34" charset="0"/>
              </a:rPr>
              <a:t>Code</a:t>
            </a:r>
            <a:r>
              <a:rPr lang="es-ES" dirty="0">
                <a:latin typeface="Arial" panose="020B0604020202020204" pitchFamily="34" charset="0"/>
                <a:cs typeface="Arial" panose="020B0604020202020204" pitchFamily="34" charset="0"/>
              </a:rPr>
              <a:t>) y se eliminaron los bloques de etiquetas &lt;</a:t>
            </a:r>
            <a:r>
              <a:rPr lang="es-ES" dirty="0" err="1">
                <a:latin typeface="Arial" panose="020B0604020202020204" pitchFamily="34" charset="0"/>
                <a:cs typeface="Arial" panose="020B0604020202020204" pitchFamily="34" charset="0"/>
              </a:rPr>
              <a:t>bizagi:vendorExtension</a:t>
            </a:r>
            <a:r>
              <a:rPr lang="es-ES" dirty="0">
                <a:latin typeface="Arial" panose="020B0604020202020204" pitchFamily="34" charset="0"/>
                <a:cs typeface="Arial" panose="020B0604020202020204" pitchFamily="34" charset="0"/>
              </a:rPr>
              <a:t>&gt; en menos de 15 minutos, logrando la importación limpia.</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Traba Técnica en Temporizadores de </a:t>
            </a:r>
            <a:r>
              <a:rPr lang="es-ES" b="1"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Dificultad para configurar la sintaxis de corte en eventos intermedios de tiempo.</a:t>
            </a:r>
          </a:p>
          <a:p>
            <a:r>
              <a:rPr lang="es-ES" b="1" dirty="0">
                <a:latin typeface="Arial" panose="020B0604020202020204" pitchFamily="34" charset="0"/>
                <a:cs typeface="Arial" panose="020B0604020202020204" pitchFamily="34" charset="0"/>
              </a:rPr>
              <a:t>Solución</a:t>
            </a:r>
            <a:r>
              <a:rPr lang="es-ES" dirty="0">
                <a:latin typeface="Arial" panose="020B0604020202020204" pitchFamily="34" charset="0"/>
                <a:cs typeface="Arial" panose="020B0604020202020204" pitchFamily="34" charset="0"/>
              </a:rPr>
              <a:t>: Se proporcionó una plantilla base en XML con el temporizador preconfigurado a 30 segundos, reduciendo el tiempo de configuración a 40 minutos.</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Saturación Visual en Diagramas Extensos</a:t>
            </a:r>
            <a:r>
              <a:rPr lang="es-ES" dirty="0">
                <a:latin typeface="Arial" panose="020B0604020202020204" pitchFamily="34" charset="0"/>
                <a:cs typeface="Arial" panose="020B0604020202020204" pitchFamily="34" charset="0"/>
              </a:rPr>
              <a:t>: Cruce constante de líneas de conexión al modelar áreas simultáneas en un solo lienzo.</a:t>
            </a:r>
          </a:p>
          <a:p>
            <a:r>
              <a:rPr lang="es-ES" b="1" dirty="0">
                <a:latin typeface="Arial" panose="020B0604020202020204" pitchFamily="34" charset="0"/>
                <a:cs typeface="Arial" panose="020B0604020202020204" pitchFamily="34" charset="0"/>
              </a:rPr>
              <a:t>Solución</a:t>
            </a:r>
            <a:r>
              <a:rPr lang="es-ES" dirty="0">
                <a:latin typeface="Arial" panose="020B0604020202020204" pitchFamily="34" charset="0"/>
                <a:cs typeface="Arial" panose="020B0604020202020204" pitchFamily="34" charset="0"/>
              </a:rPr>
              <a:t>: Modularizar los diagramas extensos mediante subprocesos colapsables de menos de 8 elementos visibles por vista en 2D.</a:t>
            </a:r>
          </a:p>
        </p:txBody>
      </p:sp>
    </p:spTree>
    <p:extLst>
      <p:ext uri="{BB962C8B-B14F-4D97-AF65-F5344CB8AC3E}">
        <p14:creationId xmlns:p14="http://schemas.microsoft.com/office/powerpoint/2010/main" val="4107196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MANUAL DE USUARIO UNIFICADO (SUBTEMA 6.3)</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3" name="Imagen 2">
            <a:extLst>
              <a:ext uri="{FF2B5EF4-FFF2-40B4-BE49-F238E27FC236}">
                <a16:creationId xmlns:a16="http://schemas.microsoft.com/office/drawing/2014/main" id="{C5AFD733-10B4-4CB6-A9AB-5D4ED1CCF30B}"/>
              </a:ext>
            </a:extLst>
          </p:cNvPr>
          <p:cNvPicPr>
            <a:picLocks noChangeAspect="1"/>
          </p:cNvPicPr>
          <p:nvPr/>
        </p:nvPicPr>
        <p:blipFill>
          <a:blip r:embed="rId4"/>
          <a:stretch>
            <a:fillRect/>
          </a:stretch>
        </p:blipFill>
        <p:spPr>
          <a:xfrm>
            <a:off x="1633865" y="1706911"/>
            <a:ext cx="8814732" cy="4619769"/>
          </a:xfrm>
          <a:prstGeom prst="rect">
            <a:avLst/>
          </a:prstGeom>
        </p:spPr>
      </p:pic>
    </p:spTree>
    <p:extLst>
      <p:ext uri="{BB962C8B-B14F-4D97-AF65-F5344CB8AC3E}">
        <p14:creationId xmlns:p14="http://schemas.microsoft.com/office/powerpoint/2010/main" val="227340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61034"/>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1: Simulación Interbancaria (</a:t>
            </a:r>
            <a:r>
              <a:rPr lang="es-ES" sz="2000" b="1" dirty="0" err="1">
                <a:latin typeface="Arial" panose="020B0604020202020204" pitchFamily="34" charset="0"/>
                <a:cs typeface="Arial" panose="020B0604020202020204" pitchFamily="34" charset="0"/>
              </a:rPr>
              <a:t>Multired</a:t>
            </a:r>
            <a:r>
              <a:rPr lang="es-ES" sz="2000" b="1" dirty="0">
                <a:latin typeface="Arial" panose="020B0604020202020204" pitchFamily="34" charset="0"/>
                <a:cs typeface="Arial" panose="020B0604020202020204" pitchFamily="34" charset="0"/>
              </a:rPr>
              <a:t>)</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308324"/>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Requisitos Previos</a:t>
            </a:r>
            <a:r>
              <a:rPr lang="es-ES" dirty="0">
                <a:latin typeface="Arial" panose="020B0604020202020204" pitchFamily="34" charset="0"/>
                <a:cs typeface="Arial" panose="020B0604020202020204" pitchFamily="34" charset="0"/>
              </a:rPr>
              <a:t>: Tener instalado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(versión 5.0 o superior) o utilizar el visor web de diagrams.net (Draw.io).</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Paso 1 (Apertura del Modelo): </a:t>
            </a:r>
            <a:r>
              <a:rPr lang="es-ES" dirty="0">
                <a:latin typeface="Arial" panose="020B0604020202020204" pitchFamily="34" charset="0"/>
                <a:cs typeface="Arial" panose="020B0604020202020204" pitchFamily="34" charset="0"/>
              </a:rPr>
              <a:t>Iniciar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hacer clic en File &gt; Open File y seleccionar el archivo </a:t>
            </a:r>
            <a:r>
              <a:rPr lang="es-ES" dirty="0" err="1">
                <a:latin typeface="Arial" panose="020B0604020202020204" pitchFamily="34" charset="0"/>
                <a:cs typeface="Arial" panose="020B0604020202020204" pitchFamily="34" charset="0"/>
              </a:rPr>
              <a:t>Multired_BPM.bpmn</a:t>
            </a:r>
            <a:r>
              <a:rPr lang="es-ES" dirty="0">
                <a:latin typeface="Arial" panose="020B0604020202020204" pitchFamily="34" charset="0"/>
                <a:cs typeface="Arial" panose="020B0604020202020204" pitchFamily="34" charset="0"/>
              </a:rPr>
              <a:t>.</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Paso 2 (Navegación del Flujo): </a:t>
            </a:r>
            <a:r>
              <a:rPr lang="es-ES" dirty="0">
                <a:latin typeface="Arial" panose="020B0604020202020204" pitchFamily="34" charset="0"/>
                <a:cs typeface="Arial" panose="020B0604020202020204" pitchFamily="34" charset="0"/>
              </a:rPr>
              <a:t>Ubicar el carril principal (Pool) titulado "Cliente / Cajero Automático". Identificar el evento de inicio representado por el círculo verde "Cliente inserta tarjeta y digita NIP".</a:t>
            </a:r>
          </a:p>
        </p:txBody>
      </p:sp>
      <p:pic>
        <p:nvPicPr>
          <p:cNvPr id="6" name="Imagen 5">
            <a:extLst>
              <a:ext uri="{FF2B5EF4-FFF2-40B4-BE49-F238E27FC236}">
                <a16:creationId xmlns:a16="http://schemas.microsoft.com/office/drawing/2014/main" id="{282F6587-940B-4F4E-BD5F-332159B80B66}"/>
              </a:ext>
            </a:extLst>
          </p:cNvPr>
          <p:cNvPicPr>
            <a:picLocks noChangeAspect="1"/>
          </p:cNvPicPr>
          <p:nvPr/>
        </p:nvPicPr>
        <p:blipFill>
          <a:blip r:embed="rId4"/>
          <a:stretch>
            <a:fillRect/>
          </a:stretch>
        </p:blipFill>
        <p:spPr>
          <a:xfrm>
            <a:off x="2725803" y="3691385"/>
            <a:ext cx="5806943" cy="2941575"/>
          </a:xfrm>
          <a:prstGeom prst="rect">
            <a:avLst/>
          </a:prstGeom>
        </p:spPr>
      </p:pic>
      <p:pic>
        <p:nvPicPr>
          <p:cNvPr id="8" name="Imagen 7">
            <a:extLst>
              <a:ext uri="{FF2B5EF4-FFF2-40B4-BE49-F238E27FC236}">
                <a16:creationId xmlns:a16="http://schemas.microsoft.com/office/drawing/2014/main" id="{E56E9C9B-2541-45F5-BF92-BCF60FF08E94}"/>
              </a:ext>
            </a:extLst>
          </p:cNvPr>
          <p:cNvPicPr>
            <a:picLocks noChangeAspect="1"/>
          </p:cNvPicPr>
          <p:nvPr/>
        </p:nvPicPr>
        <p:blipFill>
          <a:blip r:embed="rId5"/>
          <a:stretch>
            <a:fillRect/>
          </a:stretch>
        </p:blipFill>
        <p:spPr>
          <a:xfrm>
            <a:off x="3686138" y="5617836"/>
            <a:ext cx="643655" cy="163839"/>
          </a:xfrm>
          <a:prstGeom prst="rect">
            <a:avLst/>
          </a:prstGeom>
        </p:spPr>
      </p:pic>
      <p:pic>
        <p:nvPicPr>
          <p:cNvPr id="14" name="Imagen 13">
            <a:extLst>
              <a:ext uri="{FF2B5EF4-FFF2-40B4-BE49-F238E27FC236}">
                <a16:creationId xmlns:a16="http://schemas.microsoft.com/office/drawing/2014/main" id="{332335CE-59D6-4CD5-8868-0EE4A5D30134}"/>
              </a:ext>
            </a:extLst>
          </p:cNvPr>
          <p:cNvPicPr>
            <a:picLocks noChangeAspect="1"/>
          </p:cNvPicPr>
          <p:nvPr/>
        </p:nvPicPr>
        <p:blipFill>
          <a:blip r:embed="rId5"/>
          <a:stretch>
            <a:fillRect/>
          </a:stretch>
        </p:blipFill>
        <p:spPr>
          <a:xfrm>
            <a:off x="3857588" y="5870164"/>
            <a:ext cx="1657387" cy="163839"/>
          </a:xfrm>
          <a:prstGeom prst="rect">
            <a:avLst/>
          </a:prstGeom>
        </p:spPr>
      </p:pic>
      <p:pic>
        <p:nvPicPr>
          <p:cNvPr id="15" name="Imagen 14">
            <a:extLst>
              <a:ext uri="{FF2B5EF4-FFF2-40B4-BE49-F238E27FC236}">
                <a16:creationId xmlns:a16="http://schemas.microsoft.com/office/drawing/2014/main" id="{31B3A767-308F-446A-A3B0-8E1EEB8F0FEA}"/>
              </a:ext>
            </a:extLst>
          </p:cNvPr>
          <p:cNvPicPr>
            <a:picLocks noChangeAspect="1"/>
          </p:cNvPicPr>
          <p:nvPr/>
        </p:nvPicPr>
        <p:blipFill>
          <a:blip r:embed="rId5"/>
          <a:stretch>
            <a:fillRect/>
          </a:stretch>
        </p:blipFill>
        <p:spPr>
          <a:xfrm>
            <a:off x="3676613" y="5779761"/>
            <a:ext cx="643655" cy="163839"/>
          </a:xfrm>
          <a:prstGeom prst="rect">
            <a:avLst/>
          </a:prstGeom>
        </p:spPr>
      </p:pic>
    </p:spTree>
    <p:extLst>
      <p:ext uri="{BB962C8B-B14F-4D97-AF65-F5344CB8AC3E}">
        <p14:creationId xmlns:p14="http://schemas.microsoft.com/office/powerpoint/2010/main" val="1902786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61950" y="1341984"/>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1: Simulación Interbancaria (</a:t>
            </a:r>
            <a:r>
              <a:rPr lang="es-ES" sz="2000" b="1" dirty="0" err="1">
                <a:latin typeface="Arial" panose="020B0604020202020204" pitchFamily="34" charset="0"/>
                <a:cs typeface="Arial" panose="020B0604020202020204" pitchFamily="34" charset="0"/>
              </a:rPr>
              <a:t>Multired</a:t>
            </a:r>
            <a:r>
              <a:rPr lang="es-ES" sz="2000" b="1" dirty="0">
                <a:latin typeface="Arial" panose="020B0604020202020204" pitchFamily="34" charset="0"/>
                <a:cs typeface="Arial" panose="020B0604020202020204" pitchFamily="34" charset="0"/>
              </a:rPr>
              <a:t>)</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862322"/>
          </a:xfrm>
          <a:prstGeom prst="rect">
            <a:avLst/>
          </a:prstGeom>
          <a:noFill/>
        </p:spPr>
        <p:txBody>
          <a:bodyPr wrap="square">
            <a:spAutoFit/>
          </a:bodyPr>
          <a:lstStyle/>
          <a:p>
            <a:pPr algn="just"/>
            <a:r>
              <a:rPr lang="es-ES" b="1" dirty="0">
                <a:latin typeface="Arial" panose="020B0604020202020204" pitchFamily="34" charset="0"/>
                <a:cs typeface="Arial" panose="020B0604020202020204" pitchFamily="34" charset="0"/>
              </a:rPr>
              <a:t>Requisitos Previos</a:t>
            </a:r>
            <a:r>
              <a:rPr lang="es-ES" dirty="0">
                <a:latin typeface="Arial" panose="020B0604020202020204" pitchFamily="34" charset="0"/>
                <a:cs typeface="Arial" panose="020B0604020202020204" pitchFamily="34" charset="0"/>
              </a:rPr>
              <a:t>: Tener instalado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(versión 5.0 o superior) o utilizar el visor web de diagrams.net (Draw.io).</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Paso 3 (Simulación de Validación de NIP</a:t>
            </a:r>
            <a:r>
              <a:rPr lang="es-ES" dirty="0">
                <a:latin typeface="Arial" panose="020B0604020202020204" pitchFamily="34" charset="0"/>
                <a:cs typeface="Arial" panose="020B0604020202020204" pitchFamily="34" charset="0"/>
              </a:rPr>
              <a:t>): Seguir el conector de secuencia hacia la compuerta exclusiva (Gateway X). Si la clave es correcta, el flujo continúa a la tarea "Selección de Monto a Retirar". Si es incorrecta, se activa la rama de retorno "Mensaje de Clave Inválida".</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Paso 4 (Verificación del Temporizador de Espera</a:t>
            </a:r>
            <a:r>
              <a:rPr lang="es-ES" dirty="0">
                <a:latin typeface="Arial" panose="020B0604020202020204" pitchFamily="34" charset="0"/>
                <a:cs typeface="Arial" panose="020B0604020202020204" pitchFamily="34" charset="0"/>
              </a:rPr>
              <a:t>): En la tarea "Confirmar Operación", observar el evento de tiempo intermedio adjunto (</a:t>
            </a:r>
            <a:r>
              <a:rPr lang="es-ES" dirty="0" err="1">
                <a:latin typeface="Arial" panose="020B0604020202020204" pitchFamily="34" charset="0"/>
                <a:cs typeface="Arial" panose="020B0604020202020204" pitchFamily="34" charset="0"/>
              </a:rPr>
              <a:t>Timer</a:t>
            </a:r>
            <a:r>
              <a:rPr lang="es-ES" dirty="0">
                <a:latin typeface="Arial" panose="020B0604020202020204" pitchFamily="34" charset="0"/>
                <a:cs typeface="Arial" panose="020B0604020202020204" pitchFamily="34" charset="0"/>
              </a:rPr>
              <a:t> 30s). Si el usuario no interactúa en 30 segundos, el flujo cancela la transacción y expulsa la tarjeta, retornando el proceso al estado inicial.</a:t>
            </a:r>
          </a:p>
        </p:txBody>
      </p:sp>
      <p:pic>
        <p:nvPicPr>
          <p:cNvPr id="6" name="Imagen 5">
            <a:extLst>
              <a:ext uri="{FF2B5EF4-FFF2-40B4-BE49-F238E27FC236}">
                <a16:creationId xmlns:a16="http://schemas.microsoft.com/office/drawing/2014/main" id="{AA2575FE-2B3D-4C7B-B84D-7F3A1C182142}"/>
              </a:ext>
            </a:extLst>
          </p:cNvPr>
          <p:cNvPicPr>
            <a:picLocks noChangeAspect="1"/>
          </p:cNvPicPr>
          <p:nvPr/>
        </p:nvPicPr>
        <p:blipFill>
          <a:blip r:embed="rId4"/>
          <a:stretch>
            <a:fillRect/>
          </a:stretch>
        </p:blipFill>
        <p:spPr>
          <a:xfrm>
            <a:off x="3562350" y="4327409"/>
            <a:ext cx="4827521" cy="2445437"/>
          </a:xfrm>
          <a:prstGeom prst="rect">
            <a:avLst/>
          </a:prstGeom>
        </p:spPr>
      </p:pic>
      <p:pic>
        <p:nvPicPr>
          <p:cNvPr id="7" name="Imagen 6">
            <a:extLst>
              <a:ext uri="{FF2B5EF4-FFF2-40B4-BE49-F238E27FC236}">
                <a16:creationId xmlns:a16="http://schemas.microsoft.com/office/drawing/2014/main" id="{835B882C-2305-48B4-B6EC-5F87398EF28F}"/>
              </a:ext>
            </a:extLst>
          </p:cNvPr>
          <p:cNvPicPr>
            <a:picLocks noChangeAspect="1"/>
          </p:cNvPicPr>
          <p:nvPr/>
        </p:nvPicPr>
        <p:blipFill>
          <a:blip r:embed="rId5"/>
          <a:stretch>
            <a:fillRect/>
          </a:stretch>
        </p:blipFill>
        <p:spPr>
          <a:xfrm>
            <a:off x="4295738" y="5941686"/>
            <a:ext cx="643655" cy="144789"/>
          </a:xfrm>
          <a:prstGeom prst="rect">
            <a:avLst/>
          </a:prstGeom>
        </p:spPr>
      </p:pic>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5"/>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5"/>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5"/>
          <a:stretch>
            <a:fillRect/>
          </a:stretch>
        </p:blipFill>
        <p:spPr>
          <a:xfrm>
            <a:off x="4533863" y="6179811"/>
            <a:ext cx="643655" cy="144789"/>
          </a:xfrm>
          <a:prstGeom prst="rect">
            <a:avLst/>
          </a:prstGeom>
        </p:spPr>
      </p:pic>
    </p:spTree>
    <p:extLst>
      <p:ext uri="{BB962C8B-B14F-4D97-AF65-F5344CB8AC3E}">
        <p14:creationId xmlns:p14="http://schemas.microsoft.com/office/powerpoint/2010/main" val="3889081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2: Simulación Operativa (Empresa Corona)</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031325"/>
          </a:xfrm>
          <a:prstGeom prst="rect">
            <a:avLst/>
          </a:prstGeom>
          <a:noFill/>
        </p:spPr>
        <p:txBody>
          <a:bodyPr wrap="square">
            <a:spAutoFit/>
          </a:bodyPr>
          <a:lstStyle/>
          <a:p>
            <a:pPr algn="just"/>
            <a:r>
              <a:rPr lang="es-ES" b="1" dirty="0">
                <a:latin typeface="Arial" panose="020B0604020202020204" pitchFamily="34" charset="0"/>
                <a:cs typeface="Arial" panose="020B0604020202020204" pitchFamily="34" charset="0"/>
              </a:rPr>
              <a:t>Requisitos Previos</a:t>
            </a:r>
            <a:r>
              <a:rPr lang="es-ES" dirty="0">
                <a:latin typeface="Arial" panose="020B0604020202020204" pitchFamily="34" charset="0"/>
                <a:cs typeface="Arial" panose="020B0604020202020204" pitchFamily="34" charset="0"/>
              </a:rPr>
              <a:t>: Software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endParaRPr lang="es-ES" dirty="0">
              <a:latin typeface="Arial" panose="020B0604020202020204" pitchFamily="34" charset="0"/>
              <a:cs typeface="Arial" panose="020B0604020202020204" pitchFamily="34" charset="0"/>
            </a:endParaRP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Paso 1 (Apertura del Modelo</a:t>
            </a:r>
            <a:r>
              <a:rPr lang="es-ES" dirty="0">
                <a:latin typeface="Arial" panose="020B0604020202020204" pitchFamily="34" charset="0"/>
                <a:cs typeface="Arial" panose="020B0604020202020204" pitchFamily="34" charset="0"/>
              </a:rPr>
              <a:t>): Abrir el archivo </a:t>
            </a:r>
            <a:r>
              <a:rPr lang="es-ES" dirty="0" err="1">
                <a:latin typeface="Arial" panose="020B0604020202020204" pitchFamily="34" charset="0"/>
                <a:cs typeface="Arial" panose="020B0604020202020204" pitchFamily="34" charset="0"/>
              </a:rPr>
              <a:t>Corona_Fabrica.bpmn</a:t>
            </a:r>
            <a:r>
              <a:rPr lang="es-ES" dirty="0">
                <a:latin typeface="Arial" panose="020B0604020202020204" pitchFamily="34" charset="0"/>
                <a:cs typeface="Arial" panose="020B0604020202020204" pitchFamily="34" charset="0"/>
              </a:rPr>
              <a:t> en la aplicación correspondiente.</a:t>
            </a:r>
          </a:p>
          <a:p>
            <a:pPr algn="just"/>
            <a:r>
              <a:rPr lang="es-ES" b="1" dirty="0">
                <a:latin typeface="Arial" panose="020B0604020202020204" pitchFamily="34" charset="0"/>
                <a:cs typeface="Arial" panose="020B0604020202020204" pitchFamily="34" charset="0"/>
              </a:rPr>
              <a:t>Paso 2 (Exploración Modular por Subprocesos</a:t>
            </a:r>
            <a:r>
              <a:rPr lang="es-ES" dirty="0">
                <a:latin typeface="Arial" panose="020B0604020202020204" pitchFamily="34" charset="0"/>
                <a:cs typeface="Arial" panose="020B0604020202020204" pitchFamily="34" charset="0"/>
              </a:rPr>
              <a:t>): El diagrama se encuentra estructurado en tres bloques colapsables para facilitar la lectura:</a:t>
            </a:r>
          </a:p>
          <a:p>
            <a:pPr algn="just"/>
            <a:br>
              <a:rPr lang="es-ES" dirty="0">
                <a:latin typeface="Arial" panose="020B0604020202020204" pitchFamily="34" charset="0"/>
                <a:cs typeface="Arial" panose="020B0604020202020204" pitchFamily="34" charset="0"/>
              </a:rPr>
            </a:br>
            <a:endParaRPr lang="es-ES"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3" name="Imagen 2">
            <a:extLst>
              <a:ext uri="{FF2B5EF4-FFF2-40B4-BE49-F238E27FC236}">
                <a16:creationId xmlns:a16="http://schemas.microsoft.com/office/drawing/2014/main" id="{2BE98F29-2BA4-428F-9281-9B56CDA69A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8772" y="3666471"/>
            <a:ext cx="5894455" cy="3232606"/>
          </a:xfrm>
          <a:prstGeom prst="rect">
            <a:avLst/>
          </a:prstGeom>
        </p:spPr>
      </p:pic>
    </p:spTree>
    <p:extLst>
      <p:ext uri="{BB962C8B-B14F-4D97-AF65-F5344CB8AC3E}">
        <p14:creationId xmlns:p14="http://schemas.microsoft.com/office/powerpoint/2010/main" val="1037808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2: Simulación Operativa (Empresa Corona)</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3139321"/>
          </a:xfrm>
          <a:prstGeom prst="rect">
            <a:avLst/>
          </a:prstGeom>
          <a:noFill/>
        </p:spPr>
        <p:txBody>
          <a:bodyPr wrap="square">
            <a:spAutoFit/>
          </a:bodyPr>
          <a:lstStyle/>
          <a:p>
            <a:pPr algn="just"/>
            <a:r>
              <a:rPr lang="es-ES" b="1" dirty="0">
                <a:latin typeface="Arial" panose="020B0604020202020204" pitchFamily="34" charset="0"/>
                <a:cs typeface="Arial" panose="020B0604020202020204" pitchFamily="34" charset="0"/>
              </a:rPr>
              <a:t>Subproceso 1 (Fabricación y Envasado): </a:t>
            </a:r>
            <a:r>
              <a:rPr lang="es-ES" dirty="0">
                <a:latin typeface="Arial" panose="020B0604020202020204" pitchFamily="34" charset="0"/>
                <a:cs typeface="Arial" panose="020B0604020202020204" pitchFamily="34" charset="0"/>
              </a:rPr>
              <a:t>Hacer doble clic sobre la caja del subproceso para desplegar la secuencia de cocción, embotellado y empaque.</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Subproceso 2 (Bodega y Ventas): </a:t>
            </a:r>
            <a:r>
              <a:rPr lang="es-ES" dirty="0">
                <a:latin typeface="Arial" panose="020B0604020202020204" pitchFamily="34" charset="0"/>
                <a:cs typeface="Arial" panose="020B0604020202020204" pitchFamily="34" charset="0"/>
              </a:rPr>
              <a:t>Verificar la compuerta de evaluación de stock. Si hay cerveza disponible, aprueba la orden de salida; si no, genera una alerta de producción.</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Subproceso 3 (Distribución y Logística Inversa): </a:t>
            </a:r>
            <a:r>
              <a:rPr lang="es-ES" dirty="0">
                <a:latin typeface="Arial" panose="020B0604020202020204" pitchFamily="34" charset="0"/>
                <a:cs typeface="Arial" panose="020B0604020202020204" pitchFamily="34" charset="0"/>
              </a:rPr>
              <a:t>Visualizar el carril de transporte de camiones y el carril secundario de "Devolución de Envases Vacíos", donde se registra el retorno del material reutilizable desde las tiendas.</a:t>
            </a:r>
          </a:p>
          <a:p>
            <a:pPr algn="just"/>
            <a:r>
              <a:rPr lang="es-ES" b="1" dirty="0">
                <a:latin typeface="Arial" panose="020B0604020202020204" pitchFamily="34" charset="0"/>
                <a:cs typeface="Arial" panose="020B0604020202020204" pitchFamily="34" charset="0"/>
              </a:rPr>
              <a:t>Paso 3 (Validación Final): </a:t>
            </a:r>
            <a:r>
              <a:rPr lang="es-ES" dirty="0">
                <a:latin typeface="Arial" panose="020B0604020202020204" pitchFamily="34" charset="0"/>
                <a:cs typeface="Arial" panose="020B0604020202020204" pitchFamily="34" charset="0"/>
              </a:rPr>
              <a:t>Verificar que la compuerta de cierre confirme la entrega del pedido y el timbrado de la nota de venta.</a:t>
            </a:r>
          </a:p>
        </p:txBody>
      </p:sp>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14" name="Imagen 13">
            <a:extLst>
              <a:ext uri="{FF2B5EF4-FFF2-40B4-BE49-F238E27FC236}">
                <a16:creationId xmlns:a16="http://schemas.microsoft.com/office/drawing/2014/main" id="{8F310D58-3AE7-4561-BE73-AC73C4935B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6477" y="4389119"/>
            <a:ext cx="4576750" cy="2509957"/>
          </a:xfrm>
          <a:prstGeom prst="rect">
            <a:avLst/>
          </a:prstGeom>
        </p:spPr>
      </p:pic>
    </p:spTree>
    <p:extLst>
      <p:ext uri="{BB962C8B-B14F-4D97-AF65-F5344CB8AC3E}">
        <p14:creationId xmlns:p14="http://schemas.microsoft.com/office/powerpoint/2010/main" val="993196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615553"/>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3: Simulación de Atención a Pasajeros (Aeropuerto)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1754326"/>
          </a:xfrm>
          <a:prstGeom prst="rect">
            <a:avLst/>
          </a:prstGeom>
          <a:noFill/>
        </p:spPr>
        <p:txBody>
          <a:bodyPr wrap="square">
            <a:spAutoFit/>
          </a:bodyPr>
          <a:lstStyle/>
          <a:p>
            <a:pPr algn="just"/>
            <a:r>
              <a:rPr lang="es-ES" b="1" dirty="0">
                <a:latin typeface="Arial" panose="020B0604020202020204" pitchFamily="34" charset="0"/>
                <a:cs typeface="Arial" panose="020B0604020202020204" pitchFamily="34" charset="0"/>
              </a:rPr>
              <a:t>Requisitos Previos: </a:t>
            </a:r>
            <a:r>
              <a:rPr lang="es-ES" dirty="0" err="1">
                <a:latin typeface="Arial" panose="020B0604020202020204" pitchFamily="34" charset="0"/>
                <a:cs typeface="Arial" panose="020B0604020202020204" pitchFamily="34" charset="0"/>
              </a:rPr>
              <a:t>Camunda</a:t>
            </a:r>
            <a:r>
              <a:rPr lang="es-ES" dirty="0">
                <a:latin typeface="Arial" panose="020B0604020202020204" pitchFamily="34" charset="0"/>
                <a:cs typeface="Arial" panose="020B0604020202020204" pitchFamily="34" charset="0"/>
              </a:rPr>
              <a:t> </a:t>
            </a:r>
            <a:r>
              <a:rPr lang="es-ES" dirty="0" err="1">
                <a:latin typeface="Arial" panose="020B0604020202020204" pitchFamily="34" charset="0"/>
                <a:cs typeface="Arial" panose="020B0604020202020204" pitchFamily="34" charset="0"/>
              </a:rPr>
              <a:t>Modeler</a:t>
            </a:r>
            <a:r>
              <a:rPr lang="es-ES" dirty="0">
                <a:latin typeface="Arial" panose="020B0604020202020204" pitchFamily="34" charset="0"/>
                <a:cs typeface="Arial" panose="020B0604020202020204" pitchFamily="34" charset="0"/>
              </a:rPr>
              <a:t> o Bonita Studio instalado.</a:t>
            </a:r>
          </a:p>
          <a:p>
            <a:pPr algn="just"/>
            <a:endParaRPr lang="es-ES" b="1"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Paso 1 (Apertura del Modelo): </a:t>
            </a:r>
            <a:r>
              <a:rPr lang="es-ES" dirty="0">
                <a:latin typeface="Arial" panose="020B0604020202020204" pitchFamily="34" charset="0"/>
                <a:cs typeface="Arial" panose="020B0604020202020204" pitchFamily="34" charset="0"/>
              </a:rPr>
              <a:t>Cargar el archivo </a:t>
            </a:r>
            <a:r>
              <a:rPr lang="es-ES" dirty="0" err="1">
                <a:latin typeface="Arial" panose="020B0604020202020204" pitchFamily="34" charset="0"/>
                <a:cs typeface="Arial" panose="020B0604020202020204" pitchFamily="34" charset="0"/>
              </a:rPr>
              <a:t>Aeropuerto.bpmn</a:t>
            </a:r>
            <a:r>
              <a:rPr lang="es-ES" dirty="0">
                <a:latin typeface="Arial" panose="020B0604020202020204" pitchFamily="34" charset="0"/>
                <a:cs typeface="Arial" panose="020B0604020202020204" pitchFamily="34" charset="0"/>
              </a:rPr>
              <a:t> limpio de etiquetas propietarias.</a:t>
            </a:r>
          </a:p>
          <a:p>
            <a:pPr algn="just"/>
            <a:r>
              <a:rPr lang="es-ES" b="1" dirty="0">
                <a:latin typeface="Arial" panose="020B0604020202020204" pitchFamily="34" charset="0"/>
                <a:cs typeface="Arial" panose="020B0604020202020204" pitchFamily="34" charset="0"/>
              </a:rPr>
              <a:t>Paso 2 (Secuencia de Atención): </a:t>
            </a:r>
            <a:r>
              <a:rPr lang="es-ES" dirty="0">
                <a:latin typeface="Arial" panose="020B0604020202020204" pitchFamily="34" charset="0"/>
                <a:cs typeface="Arial" panose="020B0604020202020204" pitchFamily="34" charset="0"/>
              </a:rPr>
              <a:t>Seguir el flujo lineal dividido en tres fases continuas:</a:t>
            </a:r>
          </a:p>
          <a:p>
            <a:pPr algn="just"/>
            <a:br>
              <a:rPr lang="es-ES" dirty="0">
                <a:latin typeface="Arial" panose="020B0604020202020204" pitchFamily="34" charset="0"/>
                <a:cs typeface="Arial" panose="020B0604020202020204" pitchFamily="34" charset="0"/>
              </a:rPr>
            </a:br>
            <a:endParaRPr lang="es-ES"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6" name="Imagen 5">
            <a:extLst>
              <a:ext uri="{FF2B5EF4-FFF2-40B4-BE49-F238E27FC236}">
                <a16:creationId xmlns:a16="http://schemas.microsoft.com/office/drawing/2014/main" id="{F402E61C-3E96-4B37-A04B-AAE36CF1C430}"/>
              </a:ext>
            </a:extLst>
          </p:cNvPr>
          <p:cNvPicPr>
            <a:picLocks noChangeAspect="1"/>
          </p:cNvPicPr>
          <p:nvPr/>
        </p:nvPicPr>
        <p:blipFill rotWithShape="1">
          <a:blip r:embed="rId5"/>
          <a:srcRect t="6930"/>
          <a:stretch/>
        </p:blipFill>
        <p:spPr>
          <a:xfrm>
            <a:off x="3485924" y="3876674"/>
            <a:ext cx="5220152" cy="2766085"/>
          </a:xfrm>
          <a:prstGeom prst="rect">
            <a:avLst/>
          </a:prstGeom>
        </p:spPr>
      </p:pic>
    </p:spTree>
    <p:extLst>
      <p:ext uri="{BB962C8B-B14F-4D97-AF65-F5344CB8AC3E}">
        <p14:creationId xmlns:p14="http://schemas.microsoft.com/office/powerpoint/2010/main" val="4169806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615553"/>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Guía de Operación — Módulo 3: Simulación de Atención a Pasajeros (Aeropuerto)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sp>
        <p:nvSpPr>
          <p:cNvPr id="9" name="CuadroTexto 8">
            <a:extLst>
              <a:ext uri="{FF2B5EF4-FFF2-40B4-BE49-F238E27FC236}">
                <a16:creationId xmlns:a16="http://schemas.microsoft.com/office/drawing/2014/main" id="{6FB457C6-E945-47D4-92CF-94E3B2371AC3}"/>
              </a:ext>
            </a:extLst>
          </p:cNvPr>
          <p:cNvSpPr txBox="1"/>
          <p:nvPr/>
        </p:nvSpPr>
        <p:spPr>
          <a:xfrm>
            <a:off x="533400" y="1383061"/>
            <a:ext cx="10872788" cy="2862322"/>
          </a:xfrm>
          <a:prstGeom prst="rect">
            <a:avLst/>
          </a:prstGeom>
          <a:noFill/>
        </p:spPr>
        <p:txBody>
          <a:bodyPr wrap="square">
            <a:spAutoFit/>
          </a:bodyPr>
          <a:lstStyle/>
          <a:p>
            <a:pPr algn="just"/>
            <a:r>
              <a:rPr lang="es-ES" b="1" dirty="0">
                <a:latin typeface="Arial" panose="020B0604020202020204" pitchFamily="34" charset="0"/>
                <a:cs typeface="Arial" panose="020B0604020202020204" pitchFamily="34" charset="0"/>
              </a:rPr>
              <a:t>Fase 1 (Registro):</a:t>
            </a:r>
            <a:r>
              <a:rPr lang="es-ES" dirty="0">
                <a:latin typeface="Arial" panose="020B0604020202020204" pitchFamily="34" charset="0"/>
                <a:cs typeface="Arial" panose="020B0604020202020204" pitchFamily="34" charset="0"/>
              </a:rPr>
              <a:t> Inicio en el módulo de "</a:t>
            </a:r>
            <a:r>
              <a:rPr lang="es-ES" dirty="0" err="1">
                <a:latin typeface="Arial" panose="020B0604020202020204" pitchFamily="34" charset="0"/>
                <a:cs typeface="Arial" panose="020B0604020202020204" pitchFamily="34" charset="0"/>
              </a:rPr>
              <a:t>Check</a:t>
            </a:r>
            <a:r>
              <a:rPr lang="es-ES" dirty="0">
                <a:latin typeface="Arial" panose="020B0604020202020204" pitchFamily="34" charset="0"/>
                <a:cs typeface="Arial" panose="020B0604020202020204" pitchFamily="34" charset="0"/>
              </a:rPr>
              <a:t>-in y Documentación".</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Fase 2 (Equipaje y Seguridad): </a:t>
            </a:r>
            <a:r>
              <a:rPr lang="es-ES" dirty="0">
                <a:latin typeface="Arial" panose="020B0604020202020204" pitchFamily="34" charset="0"/>
                <a:cs typeface="Arial" panose="020B0604020202020204" pitchFamily="34" charset="0"/>
              </a:rPr>
              <a:t>Paso por la tarea "Pesaje de Equipaje" y avance hacia el "Filtro de Inspección de Seguridad".</a:t>
            </a:r>
          </a:p>
          <a:p>
            <a:pPr algn="just"/>
            <a:endParaRPr lang="es-ES" dirty="0">
              <a:latin typeface="Arial" panose="020B0604020202020204" pitchFamily="34" charset="0"/>
              <a:cs typeface="Arial" panose="020B0604020202020204" pitchFamily="34" charset="0"/>
            </a:endParaRPr>
          </a:p>
          <a:p>
            <a:pPr algn="just"/>
            <a:r>
              <a:rPr lang="es-ES" dirty="0">
                <a:latin typeface="Arial" panose="020B0604020202020204" pitchFamily="34" charset="0"/>
                <a:cs typeface="Arial" panose="020B0604020202020204" pitchFamily="34" charset="0"/>
              </a:rPr>
              <a:t>F</a:t>
            </a:r>
            <a:r>
              <a:rPr lang="es-ES" b="1" dirty="0">
                <a:latin typeface="Arial" panose="020B0604020202020204" pitchFamily="34" charset="0"/>
                <a:cs typeface="Arial" panose="020B0604020202020204" pitchFamily="34" charset="0"/>
              </a:rPr>
              <a:t>ase 3 (Embarque):</a:t>
            </a:r>
            <a:r>
              <a:rPr lang="es-ES" dirty="0">
                <a:latin typeface="Arial" panose="020B0604020202020204" pitchFamily="34" charset="0"/>
                <a:cs typeface="Arial" panose="020B0604020202020204" pitchFamily="34" charset="0"/>
              </a:rPr>
              <a:t> Llegada a la compuerta exclusiva de "Abordaje Prioritario por Filas".</a:t>
            </a:r>
          </a:p>
          <a:p>
            <a:pPr algn="just"/>
            <a:endParaRPr lang="es-ES" dirty="0">
              <a:latin typeface="Arial" panose="020B0604020202020204" pitchFamily="34" charset="0"/>
              <a:cs typeface="Arial" panose="020B0604020202020204" pitchFamily="34" charset="0"/>
            </a:endParaRPr>
          </a:p>
          <a:p>
            <a:pPr algn="just"/>
            <a:r>
              <a:rPr lang="es-ES" b="1" dirty="0">
                <a:latin typeface="Arial" panose="020B0604020202020204" pitchFamily="34" charset="0"/>
                <a:cs typeface="Arial" panose="020B0604020202020204" pitchFamily="34" charset="0"/>
              </a:rPr>
              <a:t>Paso 3 (Simulación de Abordaje): </a:t>
            </a:r>
            <a:r>
              <a:rPr lang="es-ES" dirty="0">
                <a:latin typeface="Arial" panose="020B0604020202020204" pitchFamily="34" charset="0"/>
                <a:cs typeface="Arial" panose="020B0604020202020204" pitchFamily="34" charset="0"/>
              </a:rPr>
              <a:t>Seleccionar el camino de la compuerta según el tipo de pasajero (filas preferenciales o abordaje general). El proceso concluye exitosamente en el evento de cierre "Pasajero aborda la aeronave".</a:t>
            </a:r>
          </a:p>
        </p:txBody>
      </p:sp>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14" name="Imagen 13">
            <a:extLst>
              <a:ext uri="{FF2B5EF4-FFF2-40B4-BE49-F238E27FC236}">
                <a16:creationId xmlns:a16="http://schemas.microsoft.com/office/drawing/2014/main" id="{B952295E-DAFB-4A8A-9C85-4B2732BF599D}"/>
              </a:ext>
            </a:extLst>
          </p:cNvPr>
          <p:cNvPicPr>
            <a:picLocks noChangeAspect="1"/>
          </p:cNvPicPr>
          <p:nvPr/>
        </p:nvPicPr>
        <p:blipFill rotWithShape="1">
          <a:blip r:embed="rId5"/>
          <a:srcRect t="10019"/>
          <a:stretch/>
        </p:blipFill>
        <p:spPr>
          <a:xfrm>
            <a:off x="4080284" y="4486274"/>
            <a:ext cx="4343338" cy="2225089"/>
          </a:xfrm>
          <a:prstGeom prst="rect">
            <a:avLst/>
          </a:prstGeom>
        </p:spPr>
      </p:pic>
    </p:spTree>
    <p:extLst>
      <p:ext uri="{BB962C8B-B14F-4D97-AF65-F5344CB8AC3E}">
        <p14:creationId xmlns:p14="http://schemas.microsoft.com/office/powerpoint/2010/main" val="3397176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ACTA DE CIERRE FORMAL</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3" name="Imagen 2">
            <a:extLst>
              <a:ext uri="{FF2B5EF4-FFF2-40B4-BE49-F238E27FC236}">
                <a16:creationId xmlns:a16="http://schemas.microsoft.com/office/drawing/2014/main" id="{2F7C704B-528F-4018-9DE2-8A48BCFFA582}"/>
              </a:ext>
            </a:extLst>
          </p:cNvPr>
          <p:cNvPicPr>
            <a:picLocks noChangeAspect="1"/>
          </p:cNvPicPr>
          <p:nvPr/>
        </p:nvPicPr>
        <p:blipFill>
          <a:blip r:embed="rId5"/>
          <a:stretch>
            <a:fillRect/>
          </a:stretch>
        </p:blipFill>
        <p:spPr>
          <a:xfrm>
            <a:off x="3981690" y="1457574"/>
            <a:ext cx="4697713" cy="5314375"/>
          </a:xfrm>
          <a:prstGeom prst="rect">
            <a:avLst/>
          </a:prstGeom>
        </p:spPr>
      </p:pic>
    </p:spTree>
    <p:extLst>
      <p:ext uri="{BB962C8B-B14F-4D97-AF65-F5344CB8AC3E}">
        <p14:creationId xmlns:p14="http://schemas.microsoft.com/office/powerpoint/2010/main" val="200398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615553"/>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DIAGRAMA DE FLUJO DEL PROCESO DE CIERRE ADMINISTRATIVO EN DRAW.IO</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pic>
        <p:nvPicPr>
          <p:cNvPr id="3" name="Imagen 2">
            <a:extLst>
              <a:ext uri="{FF2B5EF4-FFF2-40B4-BE49-F238E27FC236}">
                <a16:creationId xmlns:a16="http://schemas.microsoft.com/office/drawing/2014/main" id="{B1A114EF-43A1-40D3-8A7B-C46768CDBFAA}"/>
              </a:ext>
            </a:extLst>
          </p:cNvPr>
          <p:cNvPicPr>
            <a:picLocks noChangeAspect="1"/>
          </p:cNvPicPr>
          <p:nvPr/>
        </p:nvPicPr>
        <p:blipFill>
          <a:blip r:embed="rId5"/>
          <a:stretch>
            <a:fillRect/>
          </a:stretch>
        </p:blipFill>
        <p:spPr>
          <a:xfrm>
            <a:off x="1481696" y="1383061"/>
            <a:ext cx="7928521" cy="5445413"/>
          </a:xfrm>
          <a:prstGeom prst="rect">
            <a:avLst/>
          </a:prstGeom>
        </p:spPr>
      </p:pic>
    </p:spTree>
    <p:extLst>
      <p:ext uri="{BB962C8B-B14F-4D97-AF65-F5344CB8AC3E}">
        <p14:creationId xmlns:p14="http://schemas.microsoft.com/office/powerpoint/2010/main" val="2102220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300038" y="1383061"/>
            <a:ext cx="11358562" cy="5516016"/>
          </a:xfrm>
          <a:prstGeom prst="rect">
            <a:avLst/>
          </a:prstGeom>
        </p:spPr>
      </p:pic>
      <p:sp>
        <p:nvSpPr>
          <p:cNvPr id="12" name="TextBox 11"/>
          <p:cNvSpPr txBox="1"/>
          <p:nvPr/>
        </p:nvSpPr>
        <p:spPr>
          <a:xfrm>
            <a:off x="533400" y="619125"/>
            <a:ext cx="9353550" cy="307777"/>
          </a:xfrm>
          <a:prstGeom prst="rect">
            <a:avLst/>
          </a:prstGeom>
          <a:noFill/>
        </p:spPr>
        <p:txBody>
          <a:bodyPr wrap="square" lIns="0" tIns="0" rIns="0" bIns="0" anchor="t">
            <a:spAutoFit/>
          </a:bodyPr>
          <a:lstStyle/>
          <a:p>
            <a:r>
              <a:rPr lang="es-ES" sz="2000" b="1" dirty="0">
                <a:latin typeface="Arial" panose="020B0604020202020204" pitchFamily="34" charset="0"/>
                <a:cs typeface="Arial" panose="020B0604020202020204" pitchFamily="34" charset="0"/>
              </a:rPr>
              <a:t>CUADRO COMPARATIVO DE CONTROL DE ENTREGABLES </a:t>
            </a:r>
          </a:p>
        </p:txBody>
      </p:sp>
      <p:pic>
        <p:nvPicPr>
          <p:cNvPr id="13" name="Picture 12" descr="image.png"/>
          <p:cNvPicPr>
            <a:picLocks noChangeAspect="1"/>
          </p:cNvPicPr>
          <p:nvPr/>
        </p:nvPicPr>
        <p:blipFill>
          <a:blip r:embed="rId3"/>
          <a:stretch>
            <a:fillRect/>
          </a:stretch>
        </p:blipFill>
        <p:spPr>
          <a:xfrm>
            <a:off x="533400" y="438150"/>
            <a:ext cx="157162" cy="123825"/>
          </a:xfrm>
          <a:prstGeom prst="rect">
            <a:avLst/>
          </a:prstGeom>
        </p:spPr>
      </p:pic>
      <p:pic>
        <p:nvPicPr>
          <p:cNvPr id="8" name="Imagen 7">
            <a:extLst>
              <a:ext uri="{FF2B5EF4-FFF2-40B4-BE49-F238E27FC236}">
                <a16:creationId xmlns:a16="http://schemas.microsoft.com/office/drawing/2014/main" id="{B7496867-CEAE-4258-99EF-640CE92A3EEA}"/>
              </a:ext>
            </a:extLst>
          </p:cNvPr>
          <p:cNvPicPr>
            <a:picLocks noChangeAspect="1"/>
          </p:cNvPicPr>
          <p:nvPr/>
        </p:nvPicPr>
        <p:blipFill>
          <a:blip r:embed="rId4"/>
          <a:stretch>
            <a:fillRect/>
          </a:stretch>
        </p:blipFill>
        <p:spPr>
          <a:xfrm>
            <a:off x="4429088" y="6083926"/>
            <a:ext cx="643655" cy="144789"/>
          </a:xfrm>
          <a:prstGeom prst="rect">
            <a:avLst/>
          </a:prstGeom>
        </p:spPr>
      </p:pic>
      <p:pic>
        <p:nvPicPr>
          <p:cNvPr id="10" name="Imagen 9">
            <a:extLst>
              <a:ext uri="{FF2B5EF4-FFF2-40B4-BE49-F238E27FC236}">
                <a16:creationId xmlns:a16="http://schemas.microsoft.com/office/drawing/2014/main" id="{764078EB-709E-4EB9-BB50-6C43C00D38E3}"/>
              </a:ext>
            </a:extLst>
          </p:cNvPr>
          <p:cNvPicPr>
            <a:picLocks noChangeAspect="1"/>
          </p:cNvPicPr>
          <p:nvPr/>
        </p:nvPicPr>
        <p:blipFill>
          <a:blip r:embed="rId4"/>
          <a:stretch>
            <a:fillRect/>
          </a:stretch>
        </p:blipFill>
        <p:spPr>
          <a:xfrm>
            <a:off x="5133938" y="6132186"/>
            <a:ext cx="643655" cy="144789"/>
          </a:xfrm>
          <a:prstGeom prst="rect">
            <a:avLst/>
          </a:prstGeom>
        </p:spPr>
      </p:pic>
      <p:pic>
        <p:nvPicPr>
          <p:cNvPr id="11" name="Imagen 10">
            <a:extLst>
              <a:ext uri="{FF2B5EF4-FFF2-40B4-BE49-F238E27FC236}">
                <a16:creationId xmlns:a16="http://schemas.microsoft.com/office/drawing/2014/main" id="{1A22EC5F-4E91-45CD-A5F5-52BAE358DAC5}"/>
              </a:ext>
            </a:extLst>
          </p:cNvPr>
          <p:cNvPicPr>
            <a:picLocks noChangeAspect="1"/>
          </p:cNvPicPr>
          <p:nvPr/>
        </p:nvPicPr>
        <p:blipFill>
          <a:blip r:embed="rId4"/>
          <a:stretch>
            <a:fillRect/>
          </a:stretch>
        </p:blipFill>
        <p:spPr>
          <a:xfrm>
            <a:off x="4533863" y="6179811"/>
            <a:ext cx="643655" cy="144789"/>
          </a:xfrm>
          <a:prstGeom prst="rect">
            <a:avLst/>
          </a:prstGeom>
        </p:spPr>
      </p:pic>
      <p:graphicFrame>
        <p:nvGraphicFramePr>
          <p:cNvPr id="2" name="Tabla 2">
            <a:extLst>
              <a:ext uri="{FF2B5EF4-FFF2-40B4-BE49-F238E27FC236}">
                <a16:creationId xmlns:a16="http://schemas.microsoft.com/office/drawing/2014/main" id="{4F6EB5A3-D307-4D37-8238-AC3F16588992}"/>
              </a:ext>
            </a:extLst>
          </p:cNvPr>
          <p:cNvGraphicFramePr>
            <a:graphicFrameLocks noGrp="1"/>
          </p:cNvGraphicFramePr>
          <p:nvPr>
            <p:extLst>
              <p:ext uri="{D42A27DB-BD31-4B8C-83A1-F6EECF244321}">
                <p14:modId xmlns:p14="http://schemas.microsoft.com/office/powerpoint/2010/main" val="1973462582"/>
              </p:ext>
            </p:extLst>
          </p:nvPr>
        </p:nvGraphicFramePr>
        <p:xfrm>
          <a:off x="690562" y="1747987"/>
          <a:ext cx="10594758" cy="3610736"/>
        </p:xfrm>
        <a:graphic>
          <a:graphicData uri="http://schemas.openxmlformats.org/drawingml/2006/table">
            <a:tbl>
              <a:tblPr firstRow="1" bandRow="1">
                <a:tableStyleId>{5C22544A-7EE6-4342-B048-85BDC9FD1C3A}</a:tableStyleId>
              </a:tblPr>
              <a:tblGrid>
                <a:gridCol w="1765793">
                  <a:extLst>
                    <a:ext uri="{9D8B030D-6E8A-4147-A177-3AD203B41FA5}">
                      <a16:colId xmlns:a16="http://schemas.microsoft.com/office/drawing/2014/main" val="3085630206"/>
                    </a:ext>
                  </a:extLst>
                </a:gridCol>
                <a:gridCol w="1765793">
                  <a:extLst>
                    <a:ext uri="{9D8B030D-6E8A-4147-A177-3AD203B41FA5}">
                      <a16:colId xmlns:a16="http://schemas.microsoft.com/office/drawing/2014/main" val="478536427"/>
                    </a:ext>
                  </a:extLst>
                </a:gridCol>
                <a:gridCol w="1765793">
                  <a:extLst>
                    <a:ext uri="{9D8B030D-6E8A-4147-A177-3AD203B41FA5}">
                      <a16:colId xmlns:a16="http://schemas.microsoft.com/office/drawing/2014/main" val="4088592665"/>
                    </a:ext>
                  </a:extLst>
                </a:gridCol>
                <a:gridCol w="1765793">
                  <a:extLst>
                    <a:ext uri="{9D8B030D-6E8A-4147-A177-3AD203B41FA5}">
                      <a16:colId xmlns:a16="http://schemas.microsoft.com/office/drawing/2014/main" val="3047299700"/>
                    </a:ext>
                  </a:extLst>
                </a:gridCol>
                <a:gridCol w="1765793">
                  <a:extLst>
                    <a:ext uri="{9D8B030D-6E8A-4147-A177-3AD203B41FA5}">
                      <a16:colId xmlns:a16="http://schemas.microsoft.com/office/drawing/2014/main" val="4141762799"/>
                    </a:ext>
                  </a:extLst>
                </a:gridCol>
                <a:gridCol w="1765793">
                  <a:extLst>
                    <a:ext uri="{9D8B030D-6E8A-4147-A177-3AD203B41FA5}">
                      <a16:colId xmlns:a16="http://schemas.microsoft.com/office/drawing/2014/main" val="1526135050"/>
                    </a:ext>
                  </a:extLst>
                </a:gridCol>
              </a:tblGrid>
              <a:tr h="902684">
                <a:tc>
                  <a:txBody>
                    <a:bodyPr/>
                    <a:lstStyle/>
                    <a:p>
                      <a:pPr algn="just"/>
                      <a:r>
                        <a:rPr lang="es-ES" b="1" dirty="0">
                          <a:latin typeface="Arial" panose="020B0604020202020204" pitchFamily="34" charset="0"/>
                          <a:cs typeface="Arial" panose="020B0604020202020204" pitchFamily="34" charset="0"/>
                        </a:rPr>
                        <a:t>Proyecto</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Diagrama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Cronograma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Manual</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Acta de Cierre</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Estado del Proyecto</a:t>
                      </a:r>
                      <a:endParaRPr lang="es-MX"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07930715"/>
                  </a:ext>
                </a:extLst>
              </a:tr>
              <a:tr h="902684">
                <a:tc>
                  <a:txBody>
                    <a:bodyPr/>
                    <a:lstStyle/>
                    <a:p>
                      <a:pPr algn="just"/>
                      <a:r>
                        <a:rPr lang="es-ES" b="1" dirty="0" err="1">
                          <a:latin typeface="Arial" panose="020B0604020202020204" pitchFamily="34" charset="0"/>
                          <a:cs typeface="Arial" panose="020B0604020202020204" pitchFamily="34" charset="0"/>
                        </a:rPr>
                        <a:t>Multired</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err="1">
                          <a:latin typeface="Arial" panose="020B0604020202020204" pitchFamily="34" charset="0"/>
                          <a:cs typeface="Arial" panose="020B0604020202020204" pitchFamily="34" charset="0"/>
                        </a:rPr>
                        <a:t>Multired_BPM.bpmn</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MS Project</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No Firmada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86961499"/>
                  </a:ext>
                </a:extLst>
              </a:tr>
              <a:tr h="902684">
                <a:tc>
                  <a:txBody>
                    <a:bodyPr/>
                    <a:lstStyle/>
                    <a:p>
                      <a:pPr algn="just"/>
                      <a:r>
                        <a:rPr lang="es-ES" b="1" dirty="0">
                          <a:latin typeface="Arial" panose="020B0604020202020204" pitchFamily="34" charset="0"/>
                          <a:cs typeface="Arial" panose="020B0604020202020204" pitchFamily="34" charset="0"/>
                        </a:rPr>
                        <a:t>Empresa Corona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err="1">
                          <a:latin typeface="Arial" panose="020B0604020202020204" pitchFamily="34" charset="0"/>
                          <a:cs typeface="Arial" panose="020B0604020202020204" pitchFamily="34" charset="0"/>
                        </a:rPr>
                        <a:t>Corona_Fabrica.bpmn</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MS Project</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No Firmada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7708901"/>
                  </a:ext>
                </a:extLst>
              </a:tr>
              <a:tr h="902684">
                <a:tc>
                  <a:txBody>
                    <a:bodyPr/>
                    <a:lstStyle/>
                    <a:p>
                      <a:pPr algn="just"/>
                      <a:r>
                        <a:rPr lang="es-ES" b="1" dirty="0" err="1">
                          <a:latin typeface="Arial" panose="020B0604020202020204" pitchFamily="34" charset="0"/>
                          <a:cs typeface="Arial" panose="020B0604020202020204" pitchFamily="34" charset="0"/>
                        </a:rPr>
                        <a:t>Aereopuerto</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err="1">
                          <a:latin typeface="Arial" panose="020B0604020202020204" pitchFamily="34" charset="0"/>
                          <a:cs typeface="Arial" panose="020B0604020202020204" pitchFamily="34" charset="0"/>
                        </a:rPr>
                        <a:t>Aereopuerto.bpmn</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MS </a:t>
                      </a:r>
                      <a:r>
                        <a:rPr lang="es-ES" b="1" dirty="0" err="1">
                          <a:latin typeface="Arial" panose="020B0604020202020204" pitchFamily="34" charset="0"/>
                          <a:cs typeface="Arial" panose="020B0604020202020204" pitchFamily="34" charset="0"/>
                        </a:rPr>
                        <a:t>Projecto</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No Firmada</a:t>
                      </a:r>
                      <a:endParaRPr lang="es-MX" b="1" dirty="0">
                        <a:latin typeface="Arial" panose="020B0604020202020204" pitchFamily="34" charset="0"/>
                        <a:cs typeface="Arial" panose="020B0604020202020204" pitchFamily="34" charset="0"/>
                      </a:endParaRPr>
                    </a:p>
                  </a:txBody>
                  <a:tcPr/>
                </a:tc>
                <a:tc>
                  <a:txBody>
                    <a:bodyPr/>
                    <a:lstStyle/>
                    <a:p>
                      <a:pPr algn="just"/>
                      <a:r>
                        <a:rPr lang="es-ES" b="1" dirty="0">
                          <a:latin typeface="Arial" panose="020B0604020202020204" pitchFamily="34" charset="0"/>
                          <a:cs typeface="Arial" panose="020B0604020202020204" pitchFamily="34" charset="0"/>
                        </a:rPr>
                        <a:t>Completada</a:t>
                      </a:r>
                      <a:endParaRPr lang="es-MX"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87579689"/>
                  </a:ext>
                </a:extLst>
              </a:tr>
            </a:tbl>
          </a:graphicData>
        </a:graphic>
      </p:graphicFrame>
    </p:spTree>
    <p:extLst>
      <p:ext uri="{BB962C8B-B14F-4D97-AF65-F5344CB8AC3E}">
        <p14:creationId xmlns:p14="http://schemas.microsoft.com/office/powerpoint/2010/main" val="1605626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3886686"/>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5014912" y="516275"/>
            <a:ext cx="1943100" cy="2552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a:t>
            </a:r>
            <a:r>
              <a:rPr lang="es-MX" sz="1600" b="1" dirty="0">
                <a:solidFill>
                  <a:schemeClr val="tx1"/>
                </a:solidFill>
                <a:latin typeface="Arial" panose="020B0604020202020204" pitchFamily="34" charset="0"/>
                <a:cs typeface="Arial" panose="020B0604020202020204" pitchFamily="34" charset="0"/>
              </a:rPr>
              <a:t>ONCLUSIÓN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240899"/>
            <a:ext cx="9360660" cy="3365024"/>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El cierre formal demuestra que la aplicación rigurosa de los marcos de gestión de proyectos de tecnologías de la información permite entregar software y simulaciones complejas respetando de manera estricta la línea base. Integrar el Manual de Usuario Unificado garantiza la transferibilidad operativa de los desarrollos, mientras que compilar las lecciones aprendidas protege el conocimiento técnico generado durante el proceso. Con la firma del Acta de Cierre y la liquidación de las 74.5 horas técnicas por $3,725.00 MXN sin desviación alguna, se concluye satisfactoriamente la asignatura de Gestión de Proyectos de TI.</a:t>
            </a:r>
          </a:p>
        </p:txBody>
      </p:sp>
    </p:spTree>
    <p:extLst>
      <p:ext uri="{BB962C8B-B14F-4D97-AF65-F5344CB8AC3E}">
        <p14:creationId xmlns:p14="http://schemas.microsoft.com/office/powerpoint/2010/main" val="2931467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7C9ED0-84D3-42E0-B6D0-0674C7844693}"/>
              </a:ext>
            </a:extLst>
          </p:cNvPr>
          <p:cNvPicPr>
            <a:picLocks noChangeAspect="1"/>
          </p:cNvPicPr>
          <p:nvPr/>
        </p:nvPicPr>
        <p:blipFill>
          <a:blip r:embed="rId2"/>
          <a:stretch>
            <a:fillRect/>
          </a:stretch>
        </p:blipFill>
        <p:spPr>
          <a:xfrm>
            <a:off x="1104900" y="1240899"/>
            <a:ext cx="9780968" cy="4988451"/>
          </a:xfrm>
          <a:prstGeom prst="rect">
            <a:avLst/>
          </a:prstGeom>
        </p:spPr>
      </p:pic>
      <p:sp>
        <p:nvSpPr>
          <p:cNvPr id="8" name="Rectángulo: esquinas redondeadas 7">
            <a:extLst>
              <a:ext uri="{FF2B5EF4-FFF2-40B4-BE49-F238E27FC236}">
                <a16:creationId xmlns:a16="http://schemas.microsoft.com/office/drawing/2014/main" id="{A8D81D09-65B5-4523-A243-DC45141EE071}"/>
              </a:ext>
            </a:extLst>
          </p:cNvPr>
          <p:cNvSpPr/>
          <p:nvPr/>
        </p:nvSpPr>
        <p:spPr>
          <a:xfrm>
            <a:off x="4502944" y="525800"/>
            <a:ext cx="3186112" cy="3314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FUENTES DE INFORMACIÓN</a:t>
            </a:r>
            <a:endParaRPr lang="es-MX" b="1"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D4AC3436-5AD5-4660-9DAE-838FD634E4B6}"/>
              </a:ext>
            </a:extLst>
          </p:cNvPr>
          <p:cNvSpPr txBox="1"/>
          <p:nvPr/>
        </p:nvSpPr>
        <p:spPr>
          <a:xfrm>
            <a:off x="1306132" y="1551146"/>
            <a:ext cx="9360660" cy="4678204"/>
          </a:xfrm>
          <a:prstGeom prst="rect">
            <a:avLst/>
          </a:prstGeom>
          <a:noFill/>
        </p:spPr>
        <p:txBody>
          <a:bodyPr wrap="square">
            <a:spAutoFit/>
          </a:bodyPr>
          <a:lstStyle/>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Aldridge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 (s. f.).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Identification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Project Management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Academy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3"/>
              </a:rPr>
              <a:t>https://projectmanagementacademy.net/resources/blog/identify-risk-in-project-management/</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ADEN International Business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School</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13 de junio). Evaluación y Riesgos en Gestión de Proyectos. ADEN Business Magazine.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4"/>
              </a:rPr>
              <a:t>https://www.aden.org/business-magazine/gestion-de-proyectos-tecnicas-de-identificacion-de-riesgos/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Content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(2026, 16 de julio). Análisis de riesgo cualitativo y cuantitativo.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Mitti</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by</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SafetyCulture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5"/>
              </a:rPr>
              <a:t>https://mitti.com/es/temas/analisis-cualitativo</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Gutiérrez, A. (2026, 26 de abril). Análisis Cualitativo vs Cuantitativo de Riesgos: Matriz de Decisión. Jefe de Proyectos.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6"/>
              </a:rPr>
              <a:t>https://jefedeproyectos.com/analisis-cualitativo-vs-cuantitativo-riesgos-proyectos/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Atlassian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 f.). ¿Qué es la mitigación de riesgos? Estrategias de gestión de proyectos.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Workstream</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7"/>
              </a:rPr>
              <a:t>https://www.atlassian.com/es/work-management/project-management/risk-mitigation</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(2025, 31 de enero). 5 Key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Mitigation</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Techniques</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Project Management. </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MX"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Riskonnect</a:t>
            </a:r>
            <a:r>
              <a:rPr lang="es-MX"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MX" sz="1600" u="sng" dirty="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8"/>
              </a:rPr>
              <a:t>https://riskonnect.com/es/gestion-de-riesgos-del-proyecto/5-tecnicas-clave-de-mitigacion-de-riesgos-en-la-gestion-de-proyectos/</a:t>
            </a:r>
            <a:endParaRPr lang="es-MX" sz="1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3179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1736</Words>
  <Application>Microsoft Office PowerPoint</Application>
  <PresentationFormat>Panorámica</PresentationFormat>
  <Paragraphs>113</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12</cp:revision>
  <dcterms:created xsi:type="dcterms:W3CDTF">2026-09-27T19:34:13Z</dcterms:created>
  <dcterms:modified xsi:type="dcterms:W3CDTF">2026-10-03T01:30:31Z</dcterms:modified>
</cp:coreProperties>
</file>