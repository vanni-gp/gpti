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7" r:id="rId3"/>
    <p:sldId id="291" r:id="rId4"/>
    <p:sldId id="276" r:id="rId5"/>
    <p:sldId id="294" r:id="rId6"/>
    <p:sldId id="295" r:id="rId7"/>
    <p:sldId id="296" r:id="rId8"/>
    <p:sldId id="297" r:id="rId9"/>
    <p:sldId id="292" r:id="rId10"/>
    <p:sldId id="293"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2A5A50-68B8-4BBC-B430-67C58B53358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DE9F985-1E82-479F-9875-60B5B6253F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DA03989-D0D2-4D23-BA5F-AFE04F2B43D0}"/>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C21F6BA5-04DE-4D24-9FC8-2E2BF6F28FA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852CE03-4E8B-4F33-ACCF-80DEDAA142A9}"/>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390522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A36910-38A3-4999-8E02-7C3C85D0C9D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1FD5CE1-5144-4FCD-B593-465567CAE70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477F9E3-4FF6-48FB-832E-CEB8C89C4AE4}"/>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7CC4AC78-B03A-462E-975D-62041F5490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D085548-DA2A-4C0C-8213-B692821DE345}"/>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374277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5A3F7D-A039-4FBB-B24C-264113912E1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1195293-0FEA-44A1-878D-4BB60AEA4E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A97377-FDCC-48DB-BF1C-19A8BFC0B62E}"/>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3B605F13-B714-4FBF-B550-F2C2EADADC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768E3D5-F275-4BAF-833A-837B25AE835D}"/>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3375108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8882A-94BC-4D13-8190-4B21394FCAD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E81F1FB-97A6-43BA-8556-B0F5C22920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0F94B049-AC64-4355-9D2C-99452E37CEE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AE7F67C4-C865-4C96-AFC2-D97E0AFA25A0}"/>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6" name="Marcador de pie de página 5">
            <a:extLst>
              <a:ext uri="{FF2B5EF4-FFF2-40B4-BE49-F238E27FC236}">
                <a16:creationId xmlns:a16="http://schemas.microsoft.com/office/drawing/2014/main" id="{B7363DCF-C696-4CF8-A3B1-F50E2606910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3B8E303-2652-4C4B-9043-EAC82538FBF2}"/>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3497476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7CAC4D-4EAA-439B-BF7C-EA7385FF818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C970D4B-0864-4E3C-856D-7BDBDF451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0424642-FC8C-4AFC-8BBC-25E1FAC0412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AAC9D6D-0665-4F9D-A25E-0144BFEF1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D8B4AFB-3F03-4308-BF4E-E05509620F6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40F7C8F-C243-4E03-923A-885C4F66D65E}"/>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8" name="Marcador de pie de página 7">
            <a:extLst>
              <a:ext uri="{FF2B5EF4-FFF2-40B4-BE49-F238E27FC236}">
                <a16:creationId xmlns:a16="http://schemas.microsoft.com/office/drawing/2014/main" id="{8C244EE0-6ED2-4A51-8157-5880B2D757A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A65718B-2F20-4E43-B81F-755950C46CF2}"/>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289914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86977-4D6E-43C7-B1C3-2EB09AA62FE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C43E1DC-737A-44C9-80E9-5130939E0963}"/>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4" name="Marcador de pie de página 3">
            <a:extLst>
              <a:ext uri="{FF2B5EF4-FFF2-40B4-BE49-F238E27FC236}">
                <a16:creationId xmlns:a16="http://schemas.microsoft.com/office/drawing/2014/main" id="{B99E5289-7CF3-44D3-BAA3-1F1F289FC5B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6477CF5-7D8E-4E3C-AADC-0BFA32BAC4DD}"/>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414448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04D7D72-F91B-447D-8A66-E46FA3994AC4}"/>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3" name="Marcador de pie de página 2">
            <a:extLst>
              <a:ext uri="{FF2B5EF4-FFF2-40B4-BE49-F238E27FC236}">
                <a16:creationId xmlns:a16="http://schemas.microsoft.com/office/drawing/2014/main" id="{5F81494C-D752-4D91-8B22-ACF217038EC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54E708F-0D94-48A9-A4E8-24F379DDEF8C}"/>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322441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E0AD1-AEE4-41EF-A30B-EC6CD09010A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61D466C-8014-415E-BF50-BCD7114C5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315121B-6510-42FA-9C78-64D013796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00561B7-B647-4D5E-8971-DDA2A3C1E1C7}"/>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6" name="Marcador de pie de página 5">
            <a:extLst>
              <a:ext uri="{FF2B5EF4-FFF2-40B4-BE49-F238E27FC236}">
                <a16:creationId xmlns:a16="http://schemas.microsoft.com/office/drawing/2014/main" id="{30621F81-8CAE-4350-A6C4-AEC9432FA9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F4A110D-D896-40A0-9B42-7E8F4938D922}"/>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2207860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39AF56-CCAA-4EC2-AFF7-B5EE0FFB427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F26EEBB-62D1-4F2C-9511-A34513AAAB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47E760B-8A0C-43E1-9935-65B0166CA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597342-7C8F-463B-91BC-2333711094A7}"/>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6" name="Marcador de pie de página 5">
            <a:extLst>
              <a:ext uri="{FF2B5EF4-FFF2-40B4-BE49-F238E27FC236}">
                <a16:creationId xmlns:a16="http://schemas.microsoft.com/office/drawing/2014/main" id="{4353D000-776F-49BC-93D6-325D16B66A7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1C35F39-081B-419B-B266-578B495F08AE}"/>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48226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A06D1B-7F03-4B42-9C68-D24F57D28AD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648C7BB-E244-4A8E-9EC9-2A00BD942A1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5C1A921-1A61-4C5D-A815-BF1CF5BF820D}"/>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B97E4D3F-76AD-48B3-BC75-E0F2908B13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15A864C-01FA-4B03-AE52-2692BA61FCCF}"/>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1380699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5A03378-C56A-4BCC-9C5F-8999F6554F9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1FF3D42-457D-4D34-A6EB-E2453DA462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80519BD-7F0D-4CD1-B01B-7659B74C5A6C}"/>
              </a:ext>
            </a:extLst>
          </p:cNvPr>
          <p:cNvSpPr>
            <a:spLocks noGrp="1"/>
          </p:cNvSpPr>
          <p:nvPr>
            <p:ph type="dt" sz="half" idx="10"/>
          </p:nvPr>
        </p:nvSpPr>
        <p:spPr/>
        <p:txBody>
          <a:body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5E52762C-258B-40C2-B308-089A9F3D2B9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ED1F0D6-B2A6-41A8-94AE-A6AB32F0C0B0}"/>
              </a:ext>
            </a:extLst>
          </p:cNvPr>
          <p:cNvSpPr>
            <a:spLocks noGrp="1"/>
          </p:cNvSpPr>
          <p:nvPr>
            <p:ph type="sldNum" sz="quarter" idx="12"/>
          </p:nvPr>
        </p:nvSpPr>
        <p:spPr/>
        <p:txBody>
          <a:bodyPr/>
          <a:lstStyle/>
          <a:p>
            <a:fld id="{81506B32-3333-4366-92D4-10F4BCF06BCD}" type="slidenum">
              <a:rPr lang="es-MX" smtClean="0"/>
              <a:t>‹Nº›</a:t>
            </a:fld>
            <a:endParaRPr lang="es-MX"/>
          </a:p>
        </p:txBody>
      </p:sp>
    </p:spTree>
    <p:extLst>
      <p:ext uri="{BB962C8B-B14F-4D97-AF65-F5344CB8AC3E}">
        <p14:creationId xmlns:p14="http://schemas.microsoft.com/office/powerpoint/2010/main" val="2945051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3473AF-9F17-4F6E-A602-48B393D77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BB1AF25-91C1-4BC9-A815-46CD0A4BD1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BFF270D-68A5-423C-B4BC-BEC1B5B5AF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E5FF8-FFD1-49AF-A2A3-54EA8467B7AC}" type="datetimeFigureOut">
              <a:rPr lang="es-MX" smtClean="0"/>
              <a:t>02/10/2026</a:t>
            </a:fld>
            <a:endParaRPr lang="es-MX"/>
          </a:p>
        </p:txBody>
      </p:sp>
      <p:sp>
        <p:nvSpPr>
          <p:cNvPr id="5" name="Marcador de pie de página 4">
            <a:extLst>
              <a:ext uri="{FF2B5EF4-FFF2-40B4-BE49-F238E27FC236}">
                <a16:creationId xmlns:a16="http://schemas.microsoft.com/office/drawing/2014/main" id="{54694501-4E68-4659-A647-814D15462A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9C1A2B3-8902-4B77-AF1C-C16420FD95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506B32-3333-4366-92D4-10F4BCF06BCD}" type="slidenum">
              <a:rPr lang="es-MX" smtClean="0"/>
              <a:t>‹Nº›</a:t>
            </a:fld>
            <a:endParaRPr lang="es-MX"/>
          </a:p>
        </p:txBody>
      </p:sp>
    </p:spTree>
    <p:extLst>
      <p:ext uri="{BB962C8B-B14F-4D97-AF65-F5344CB8AC3E}">
        <p14:creationId xmlns:p14="http://schemas.microsoft.com/office/powerpoint/2010/main" val="3821264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Vanni-GP/GPTI" TargetMode="External"/><Relationship Id="rId1" Type="http://schemas.openxmlformats.org/officeDocument/2006/relationships/slideLayout" Target="../slideLayouts/slideLayout1.xml"/><Relationship Id="rId5" Type="http://schemas.openxmlformats.org/officeDocument/2006/relationships/image" Target="../media/image3.tm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riskonnect.com/es/gestion-de-riesgos-del-proyecto/5-tecnicas-clave-de-mitigacion-de-riesgos-en-la-gestion-de-proyectos/" TargetMode="External"/><Relationship Id="rId3" Type="http://schemas.openxmlformats.org/officeDocument/2006/relationships/hyperlink" Target="https://projectmanagementacademy.net/resources/blog/identify-risk-in-project-management/" TargetMode="External"/><Relationship Id="rId7" Type="http://schemas.openxmlformats.org/officeDocument/2006/relationships/hyperlink" Target="https://www.atlassian.com/es/work-management/project-management/risk-mitigation"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hyperlink" Target="https://jefedeproyectos.com/analisis-cualitativo-vs-cuantitativo-riesgos-proyectos/" TargetMode="External"/><Relationship Id="rId5" Type="http://schemas.openxmlformats.org/officeDocument/2006/relationships/hyperlink" Target="https://mitti.com/es/temas/analisis-cualitativo" TargetMode="External"/><Relationship Id="rId4" Type="http://schemas.openxmlformats.org/officeDocument/2006/relationships/hyperlink" Target="https://www.aden.org/business-magazine/gestion-de-proyectos-tecnicas-de-identificacion-de-riesg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5435014"/>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Gestión de Proyectos de 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Séptimo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Reporte de Practica: </a:t>
            </a:r>
            <a:r>
              <a:rPr lang="es-ES" dirty="0">
                <a:effectLst/>
                <a:latin typeface="Arial" panose="020B0604020202020204" pitchFamily="34" charset="0"/>
                <a:ea typeface="Calibri" panose="020F0502020204030204" pitchFamily="34" charset="0"/>
                <a:cs typeface="Times New Roman" panose="02020603050405020304" pitchFamily="18" charset="0"/>
              </a:rPr>
              <a:t>Medición de Éxito, Indicadores de Rendimiento y Evaluación de Resultados</a:t>
            </a:r>
          </a:p>
          <a:p>
            <a:pPr algn="ctr"/>
            <a:r>
              <a:rPr lang="es-ES" dirty="0">
                <a:effectLst/>
                <a:latin typeface="Arial" panose="020B0604020202020204" pitchFamily="34" charset="0"/>
                <a:ea typeface="Calibri" panose="020F0502020204030204" pitchFamily="34" charset="0"/>
                <a:cs typeface="Times New Roman" panose="02020603050405020304" pitchFamily="18" charset="0"/>
              </a:rPr>
              <a:t>os</a:t>
            </a: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 </a:t>
            </a:r>
            <a:r>
              <a:rPr lang="es-MX" dirty="0">
                <a:latin typeface="Arial" panose="020B0604020202020204" pitchFamily="34" charset="0"/>
                <a:ea typeface="Calibri" panose="020F0502020204030204" pitchFamily="34" charset="0"/>
                <a:cs typeface="Times New Roman" panose="02020603050405020304" pitchFamily="18" charset="0"/>
              </a:rPr>
              <a:t>03 </a:t>
            </a:r>
            <a:r>
              <a:rPr lang="es-MX">
                <a:latin typeface="Arial" panose="020B0604020202020204" pitchFamily="34" charset="0"/>
                <a:ea typeface="Calibri" panose="020F0502020204030204" pitchFamily="34" charset="0"/>
                <a:cs typeface="Times New Roman" panose="02020603050405020304" pitchFamily="18" charset="0"/>
              </a:rPr>
              <a:t>de octubre del </a:t>
            </a:r>
            <a:r>
              <a:rPr lang="es-MX" dirty="0">
                <a:latin typeface="Arial" panose="020B0604020202020204" pitchFamily="34" charset="0"/>
                <a:ea typeface="Calibri" panose="020F0502020204030204" pitchFamily="34" charset="0"/>
                <a:cs typeface="Times New Roman" panose="02020603050405020304" pitchFamily="18" charset="0"/>
              </a:rPr>
              <a:t>2026</a:t>
            </a:r>
          </a:p>
          <a:p>
            <a:pPr algn="ctr">
              <a:lnSpc>
                <a:spcPct val="106000"/>
              </a:lnSpc>
              <a:spcAft>
                <a:spcPts val="800"/>
              </a:spcAft>
            </a:pP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dirty="0">
                <a:latin typeface="Arial" panose="020B0604020202020204" pitchFamily="34" charset="0"/>
                <a:ea typeface="Calibri" panose="020F0502020204030204" pitchFamily="34" charset="0"/>
                <a:cs typeface="Times New Roman" panose="02020603050405020304" pitchFamily="18" charset="0"/>
              </a:rPr>
              <a:t>Link del Repositorio GIT: </a:t>
            </a:r>
            <a:r>
              <a:rPr lang="es-MX" sz="1400" dirty="0">
                <a:hlinkClick r:id="rId2"/>
              </a:rPr>
              <a:t>Vanni-GP/GPTI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7830820" y="295275"/>
            <a:ext cx="1179830" cy="844773"/>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447675" y="941628"/>
            <a:ext cx="10944225" cy="387802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124450" y="46731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542925" y="941629"/>
            <a:ext cx="10706100" cy="3780522"/>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En este primer reporte de la Unidad 6 presento la evaluación cuantitativa y cualitativa del rendimiento de los tres proyectos de simulación bajo mi gestión (</a:t>
            </a:r>
            <a:r>
              <a:rPr lang="es-ES" dirty="0" err="1">
                <a:latin typeface="Arial" panose="020B0604020202020204" pitchFamily="34" charset="0"/>
                <a:cs typeface="Arial" panose="020B0604020202020204" pitchFamily="34" charset="0"/>
              </a:rPr>
              <a:t>Multired</a:t>
            </a:r>
            <a:r>
              <a:rPr lang="es-ES" dirty="0">
                <a:latin typeface="Arial" panose="020B0604020202020204" pitchFamily="34" charset="0"/>
                <a:cs typeface="Arial" panose="020B0604020202020204" pitchFamily="34" charset="0"/>
              </a:rPr>
              <a:t>, Empresa Corona y Aeropuerto). Como gestor, diseñé un formato sencillo de medición de éxito basado en cuatro indicadores clave (</a:t>
            </a:r>
            <a:r>
              <a:rPr lang="es-ES" dirty="0" err="1">
                <a:latin typeface="Arial" panose="020B0604020202020204" pitchFamily="34" charset="0"/>
                <a:cs typeface="Arial" panose="020B0604020202020204" pitchFamily="34" charset="0"/>
              </a:rPr>
              <a:t>KPIs</a:t>
            </a:r>
            <a:r>
              <a:rPr lang="es-ES" dirty="0">
                <a:latin typeface="Arial" panose="020B0604020202020204" pitchFamily="34" charset="0"/>
                <a:cs typeface="Arial" panose="020B0604020202020204" pitchFamily="34" charset="0"/>
              </a:rPr>
              <a:t>): cumplimiento del cronograma, apego al presupuesto, calidad del modelo BPMN y satisfacción del usuario. A lo largo de este informe muestro las respuestas aplicadas a los responsables técnicos (Cynthia Morales, </a:t>
            </a:r>
            <a:r>
              <a:rPr lang="es-ES" dirty="0" err="1">
                <a:latin typeface="Arial" panose="020B0604020202020204" pitchFamily="34" charset="0"/>
                <a:cs typeface="Arial" panose="020B0604020202020204" pitchFamily="34" charset="0"/>
              </a:rPr>
              <a:t>Darvin</a:t>
            </a:r>
            <a:r>
              <a:rPr lang="es-ES" dirty="0">
                <a:latin typeface="Arial" panose="020B0604020202020204" pitchFamily="34" charset="0"/>
                <a:cs typeface="Arial" panose="020B0604020202020204" pitchFamily="34" charset="0"/>
              </a:rPr>
              <a:t> Roblero y mi </a:t>
            </a:r>
            <a:r>
              <a:rPr lang="es-ES" dirty="0" err="1">
                <a:latin typeface="Arial" panose="020B0604020202020204" pitchFamily="34" charset="0"/>
                <a:cs typeface="Arial" panose="020B0604020202020204" pitchFamily="34" charset="0"/>
              </a:rPr>
              <a:t>autoauditoría</a:t>
            </a:r>
            <a:r>
              <a:rPr lang="es-ES" dirty="0">
                <a:latin typeface="Arial" panose="020B0604020202020204" pitchFamily="34" charset="0"/>
                <a:cs typeface="Arial" panose="020B0604020202020204" pitchFamily="34" charset="0"/>
              </a:rPr>
              <a:t>), demostrando que el trabajo cumplió al 100% con los objetivos planteados. Este análisis consolida la evidencia técnica de que las 74.5 horas de ingeniería y el presupuesto de $3,725.00 MXN se ejecutaron de manera exacta en los plazos fijados de 11, 10 y 9 días hábiles.</a:t>
            </a:r>
          </a:p>
        </p:txBody>
      </p:sp>
    </p:spTree>
    <p:extLst>
      <p:ext uri="{BB962C8B-B14F-4D97-AF65-F5344CB8AC3E}">
        <p14:creationId xmlns:p14="http://schemas.microsoft.com/office/powerpoint/2010/main" val="2333110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386450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3780522"/>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Este reporte se elaboró bajo un esquema de medición de éxito porque en la administración profesional de proyectos no se puede dar por concluido un desarrollo sin verificar numéricamente si se cumplieron las metas planificadas en la línea base. Evaluar los proyectos mediante preguntas cortas y métricas objetivas le permite al gestor comprobar si las soluciones entregadas en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Draw.io y Bonita cumplen con la calidad requerida, sin salirse del presupuesto autorizado ni solicitar días adicionales. Contar con esta evaluación previa justifica la entrega final ante la institución y sienta las bases para proceder con la documentación técnica y el cierre administrativo en el siguiente informe.</a:t>
            </a:r>
          </a:p>
        </p:txBody>
      </p:sp>
    </p:spTree>
    <p:extLst>
      <p:ext uri="{BB962C8B-B14F-4D97-AF65-F5344CB8AC3E}">
        <p14:creationId xmlns:p14="http://schemas.microsoft.com/office/powerpoint/2010/main" val="283291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REPORTE DE MEDICIÓN DE ÉXITO Y EVALUACIÓN DE RESULTADOS</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3416320"/>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Para evaluar el trabajo, estructuré un cuestionario corto de cuatro preguntas aplicadas a cada desarrollo:</a:t>
            </a:r>
          </a:p>
          <a:p>
            <a:pPr algn="just"/>
            <a:endParaRPr lang="es-ES" dirty="0">
              <a:latin typeface="Arial" panose="020B0604020202020204" pitchFamily="34" charset="0"/>
              <a:cs typeface="Arial" panose="020B0604020202020204" pitchFamily="34" charset="0"/>
            </a:endParaRP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Evaluación de Éxito</a:t>
            </a:r>
          </a:p>
          <a:p>
            <a:pPr algn="just"/>
            <a:endParaRPr lang="es-ES" dirty="0">
              <a:latin typeface="Arial" panose="020B0604020202020204" pitchFamily="34" charset="0"/>
              <a:cs typeface="Arial" panose="020B0604020202020204" pitchFamily="34" charset="0"/>
            </a:endParaRPr>
          </a:p>
          <a:p>
            <a:pPr marL="342900" indent="-342900" algn="just">
              <a:buAutoNum type="arabicPeriod"/>
            </a:pPr>
            <a:r>
              <a:rPr lang="es-ES" dirty="0">
                <a:latin typeface="Arial" panose="020B0604020202020204" pitchFamily="34" charset="0"/>
                <a:cs typeface="Arial" panose="020B0604020202020204" pitchFamily="34" charset="0"/>
              </a:rPr>
              <a:t>¿Terminaste a tiempo? (Días hábiles) </a:t>
            </a:r>
          </a:p>
          <a:p>
            <a:pPr marL="342900" indent="-342900" algn="just">
              <a:buAutoNum type="arabicPeriod"/>
            </a:pPr>
            <a:endParaRPr lang="es-ES" dirty="0">
              <a:latin typeface="Arial" panose="020B0604020202020204" pitchFamily="34" charset="0"/>
              <a:cs typeface="Arial" panose="020B0604020202020204" pitchFamily="34" charset="0"/>
            </a:endParaRPr>
          </a:p>
          <a:p>
            <a:pPr marL="342900" indent="-342900" algn="just">
              <a:buAutoNum type="arabicPeriod"/>
            </a:pPr>
            <a:r>
              <a:rPr lang="es-ES" dirty="0">
                <a:latin typeface="Arial" panose="020B0604020202020204" pitchFamily="34" charset="0"/>
                <a:cs typeface="Arial" panose="020B0604020202020204" pitchFamily="34" charset="0"/>
              </a:rPr>
              <a:t>¿Te ajustaste al presupuesto? (Horas x $50/h) </a:t>
            </a:r>
          </a:p>
          <a:p>
            <a:pPr marL="342900" indent="-342900" algn="just">
              <a:buAutoNum type="arabicPeriod"/>
            </a:pPr>
            <a:endParaRPr lang="es-ES" dirty="0">
              <a:latin typeface="Arial" panose="020B0604020202020204" pitchFamily="34" charset="0"/>
              <a:cs typeface="Arial" panose="020B0604020202020204" pitchFamily="34" charset="0"/>
            </a:endParaRPr>
          </a:p>
          <a:p>
            <a:pPr marL="342900" indent="-342900" algn="just">
              <a:buAutoNum type="arabicPeriod"/>
            </a:pPr>
            <a:r>
              <a:rPr lang="es-ES" dirty="0">
                <a:latin typeface="Arial" panose="020B0604020202020204" pitchFamily="34" charset="0"/>
                <a:cs typeface="Arial" panose="020B0604020202020204" pitchFamily="34" charset="0"/>
              </a:rPr>
              <a:t>¿El modelo BPMN funciona sin errores? </a:t>
            </a:r>
          </a:p>
          <a:p>
            <a:pPr marL="342900" indent="-342900" algn="just">
              <a:buAutoNum type="arabicPeriod"/>
            </a:pPr>
            <a:endParaRPr lang="es-ES" dirty="0">
              <a:latin typeface="Arial" panose="020B0604020202020204" pitchFamily="34" charset="0"/>
              <a:cs typeface="Arial" panose="020B0604020202020204" pitchFamily="34" charset="0"/>
            </a:endParaRPr>
          </a:p>
          <a:p>
            <a:pPr marL="342900" indent="-342900" algn="just">
              <a:buAutoNum type="arabicPeriod"/>
            </a:pPr>
            <a:r>
              <a:rPr lang="es-ES" dirty="0">
                <a:latin typeface="Arial" panose="020B0604020202020204" pitchFamily="34" charset="0"/>
                <a:cs typeface="Arial" panose="020B0604020202020204" pitchFamily="34" charset="0"/>
              </a:rPr>
              <a:t>¿Cumple con la rúbrica escolar?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RESULTADOS DE LA EVALUACIÓN POR PROYECTO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862322"/>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Proyecto 1: </a:t>
            </a:r>
            <a:r>
              <a:rPr lang="es-ES" b="1" dirty="0" err="1">
                <a:latin typeface="Arial" panose="020B0604020202020204" pitchFamily="34" charset="0"/>
                <a:cs typeface="Arial" panose="020B0604020202020204" pitchFamily="34" charset="0"/>
              </a:rPr>
              <a:t>Multired</a:t>
            </a:r>
            <a:r>
              <a:rPr lang="es-ES" b="1" dirty="0">
                <a:latin typeface="Arial" panose="020B0604020202020204" pitchFamily="34" charset="0"/>
                <a:cs typeface="Arial" panose="020B0604020202020204" pitchFamily="34" charset="0"/>
              </a:rPr>
              <a:t> (Cynthia Morales)</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Tiempo planificado vs. real</a:t>
            </a:r>
            <a:r>
              <a:rPr lang="es-ES" dirty="0">
                <a:latin typeface="Arial" panose="020B0604020202020204" pitchFamily="34" charset="0"/>
                <a:cs typeface="Arial" panose="020B0604020202020204" pitchFamily="34" charset="0"/>
              </a:rPr>
              <a:t>: 11 días hábiles (22 horas)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Presupuesto planificado vs. real</a:t>
            </a:r>
            <a:r>
              <a:rPr lang="es-ES" dirty="0">
                <a:latin typeface="Arial" panose="020B0604020202020204" pitchFamily="34" charset="0"/>
                <a:cs typeface="Arial" panose="020B0604020202020204" pitchFamily="34" charset="0"/>
              </a:rPr>
              <a:t>: $1,100.00 MXN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Calidad del Modelo BPMN</a:t>
            </a:r>
            <a:r>
              <a:rPr lang="es-ES" dirty="0">
                <a:latin typeface="Arial" panose="020B0604020202020204" pitchFamily="34" charset="0"/>
                <a:cs typeface="Arial" panose="020B0604020202020204" pitchFamily="34" charset="0"/>
              </a:rPr>
              <a:t>: Simulación del cajero, validación de NIP y temporizador de 30s verificados en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sin errores.</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Dictamen de Éxito</a:t>
            </a:r>
            <a:r>
              <a:rPr lang="es-ES" dirty="0">
                <a:latin typeface="Arial" panose="020B0604020202020204" pitchFamily="34" charset="0"/>
                <a:cs typeface="Arial" panose="020B0604020202020204" pitchFamily="34" charset="0"/>
              </a:rPr>
              <a:t>: Proyecto concluido con éxito sin desviaciones.</a:t>
            </a:r>
          </a:p>
        </p:txBody>
      </p:sp>
    </p:spTree>
    <p:extLst>
      <p:ext uri="{BB962C8B-B14F-4D97-AF65-F5344CB8AC3E}">
        <p14:creationId xmlns:p14="http://schemas.microsoft.com/office/powerpoint/2010/main" val="2079567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RESULTADOS DE LA EVALUACIÓN POR PROYECTO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862322"/>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Proyecto 2: Empresa Corona (</a:t>
            </a:r>
            <a:r>
              <a:rPr lang="es-ES" b="1" dirty="0" err="1">
                <a:latin typeface="Arial" panose="020B0604020202020204" pitchFamily="34" charset="0"/>
                <a:cs typeface="Arial" panose="020B0604020202020204" pitchFamily="34" charset="0"/>
              </a:rPr>
              <a:t>Darvin</a:t>
            </a:r>
            <a:r>
              <a:rPr lang="es-ES" b="1" dirty="0">
                <a:latin typeface="Arial" panose="020B0604020202020204" pitchFamily="34" charset="0"/>
                <a:cs typeface="Arial" panose="020B0604020202020204" pitchFamily="34" charset="0"/>
              </a:rPr>
              <a:t> Roblero)</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Tiempo planificado vs. real</a:t>
            </a:r>
            <a:r>
              <a:rPr lang="es-ES" dirty="0">
                <a:latin typeface="Arial" panose="020B0604020202020204" pitchFamily="34" charset="0"/>
                <a:cs typeface="Arial" panose="020B0604020202020204" pitchFamily="34" charset="0"/>
              </a:rPr>
              <a:t>: 10 días hábiles (30 horas)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Presupuesto planificado vs. real</a:t>
            </a:r>
            <a:r>
              <a:rPr lang="es-ES" dirty="0">
                <a:latin typeface="Arial" panose="020B0604020202020204" pitchFamily="34" charset="0"/>
                <a:cs typeface="Arial" panose="020B0604020202020204" pitchFamily="34" charset="0"/>
              </a:rPr>
              <a:t>: $1,500.00 MXN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Calidad del Modelo BPMN</a:t>
            </a:r>
            <a:r>
              <a:rPr lang="es-ES" dirty="0">
                <a:latin typeface="Arial" panose="020B0604020202020204" pitchFamily="34" charset="0"/>
                <a:cs typeface="Arial" panose="020B0604020202020204" pitchFamily="34" charset="0"/>
              </a:rPr>
              <a:t>: División en 3 subprocesos limpios (Fabricación, Bodega y Distribución con retorno de envases) probados en Draw.io y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Dictamen de Éxito</a:t>
            </a:r>
            <a:r>
              <a:rPr lang="es-ES" dirty="0">
                <a:latin typeface="Arial" panose="020B0604020202020204" pitchFamily="34" charset="0"/>
                <a:cs typeface="Arial" panose="020B0604020202020204" pitchFamily="34" charset="0"/>
              </a:rPr>
              <a:t>: Proyecto concluido con éxito con alcance optimizado.</a:t>
            </a:r>
          </a:p>
        </p:txBody>
      </p:sp>
    </p:spTree>
    <p:extLst>
      <p:ext uri="{BB962C8B-B14F-4D97-AF65-F5344CB8AC3E}">
        <p14:creationId xmlns:p14="http://schemas.microsoft.com/office/powerpoint/2010/main" val="2843790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RESULTADOS DE LA EVALUACIÓN POR PROYECTO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862322"/>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Proyecto 3: Aeropuerto (Vanni Gutiérrez)</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Tiempo planificado vs. real</a:t>
            </a:r>
            <a:r>
              <a:rPr lang="es-ES" dirty="0">
                <a:latin typeface="Arial" panose="020B0604020202020204" pitchFamily="34" charset="0"/>
                <a:cs typeface="Arial" panose="020B0604020202020204" pitchFamily="34" charset="0"/>
              </a:rPr>
              <a:t>: 9 días hábiles (22.5 horas)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Presupuesto planificado vs. real</a:t>
            </a:r>
            <a:r>
              <a:rPr lang="es-ES" dirty="0">
                <a:latin typeface="Arial" panose="020B0604020202020204" pitchFamily="34" charset="0"/>
                <a:cs typeface="Arial" panose="020B0604020202020204" pitchFamily="34" charset="0"/>
              </a:rPr>
              <a:t>: $1,125.00 MXN -&gt; Cumplido al 100%.</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Calidad del Modelo BPMN</a:t>
            </a:r>
            <a:r>
              <a:rPr lang="es-ES" dirty="0">
                <a:latin typeface="Arial" panose="020B0604020202020204" pitchFamily="34" charset="0"/>
                <a:cs typeface="Arial" panose="020B0604020202020204" pitchFamily="34" charset="0"/>
              </a:rPr>
              <a:t>: Flujo de abordaje prioritario y compatibilidad XML depurada exitosamente entre Bizagi y Bonita Studio.</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Dictamen de Éxito</a:t>
            </a:r>
            <a:r>
              <a:rPr lang="es-ES" dirty="0">
                <a:latin typeface="Arial" panose="020B0604020202020204" pitchFamily="34" charset="0"/>
                <a:cs typeface="Arial" panose="020B0604020202020204" pitchFamily="34" charset="0"/>
              </a:rPr>
              <a:t>: Proyecto concluido con éxito en </a:t>
            </a:r>
            <a:r>
              <a:rPr lang="es-ES" dirty="0" err="1">
                <a:latin typeface="Arial" panose="020B0604020202020204" pitchFamily="34" charset="0"/>
                <a:cs typeface="Arial" panose="020B0604020202020204" pitchFamily="34" charset="0"/>
              </a:rPr>
              <a:t>autoauditoría</a:t>
            </a:r>
            <a:r>
              <a:rPr lang="es-E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70446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CUADRO COMPARATIVO DE INDICADORES DE ÉXITO (</a:t>
            </a:r>
            <a:r>
              <a:rPr lang="es-ES" sz="2000" b="1" dirty="0" err="1">
                <a:latin typeface="Arial" panose="020B0604020202020204" pitchFamily="34" charset="0"/>
                <a:cs typeface="Arial" panose="020B0604020202020204" pitchFamily="34" charset="0"/>
              </a:rPr>
              <a:t>KPIs</a:t>
            </a:r>
            <a:r>
              <a:rPr lang="es-ES" sz="2000" b="1" dirty="0">
                <a:latin typeface="Arial" panose="020B0604020202020204" pitchFamily="34" charset="0"/>
                <a:cs typeface="Arial" panose="020B0604020202020204" pitchFamily="34" charset="0"/>
              </a:rPr>
              <a:t>)</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3" name="Imagen 2">
            <a:extLst>
              <a:ext uri="{FF2B5EF4-FFF2-40B4-BE49-F238E27FC236}">
                <a16:creationId xmlns:a16="http://schemas.microsoft.com/office/drawing/2014/main" id="{78FE4F27-0153-4E6F-8CF9-BF4355B7D7AB}"/>
              </a:ext>
            </a:extLst>
          </p:cNvPr>
          <p:cNvPicPr>
            <a:picLocks noChangeAspect="1"/>
          </p:cNvPicPr>
          <p:nvPr/>
        </p:nvPicPr>
        <p:blipFill>
          <a:blip r:embed="rId4"/>
          <a:stretch>
            <a:fillRect/>
          </a:stretch>
        </p:blipFill>
        <p:spPr>
          <a:xfrm>
            <a:off x="906481" y="1419084"/>
            <a:ext cx="10229297" cy="4819791"/>
          </a:xfrm>
          <a:prstGeom prst="rect">
            <a:avLst/>
          </a:prstGeom>
        </p:spPr>
      </p:pic>
    </p:spTree>
    <p:extLst>
      <p:ext uri="{BB962C8B-B14F-4D97-AF65-F5344CB8AC3E}">
        <p14:creationId xmlns:p14="http://schemas.microsoft.com/office/powerpoint/2010/main" val="202987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900"/>
            <a:ext cx="9780968" cy="2703572"/>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a:t>
            </a:r>
            <a:r>
              <a:rPr lang="es-MX" sz="1600" b="1" dirty="0">
                <a:solidFill>
                  <a:schemeClr val="tx1"/>
                </a:solidFill>
                <a:latin typeface="Arial" panose="020B0604020202020204" pitchFamily="34" charset="0"/>
                <a:cs typeface="Arial" panose="020B0604020202020204" pitchFamily="34" charset="0"/>
              </a:rPr>
              <a:t>ONCLUSIÓN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2534027"/>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La medición de resultados demostró que los tres proyectos alcanzaron un nivel de éxito del 100% en todas las métricas evaluadas. La disciplina operativa permitió cumplir las rutas críticas fijadas en Microsoft Project sin requerir días de prórroga ni sobrecostos económicos. Con los modelos BPMN validados y probados en software, el portafolio se declara técnicamente exitoso y listo para proceder a la entrega de la documentación final y el cierre administrativo.</a:t>
            </a:r>
          </a:p>
        </p:txBody>
      </p:sp>
    </p:spTree>
    <p:extLst>
      <p:ext uri="{BB962C8B-B14F-4D97-AF65-F5344CB8AC3E}">
        <p14:creationId xmlns:p14="http://schemas.microsoft.com/office/powerpoint/2010/main" val="2931467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498845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4502944" y="525800"/>
            <a:ext cx="3186112" cy="3314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FUENTES DE INFORMACIÓN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551146"/>
            <a:ext cx="9360660" cy="4678204"/>
          </a:xfrm>
          <a:prstGeom prst="rect">
            <a:avLst/>
          </a:prstGeom>
          <a:noFill/>
        </p:spPr>
        <p:txBody>
          <a:bodyPr wrap="square">
            <a:spAutoFit/>
          </a:bodyPr>
          <a:lstStyle/>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Aldridge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(s. f.).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Identification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Project Management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Academy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3"/>
              </a:rPr>
              <a:t>https://projectmanagementacademy.net/resources/blog/identify-risk-in-project-management/</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ADEN International Business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School</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13 de junio). Evaluación y Riesgos en Gestión de Proyectos. ADEN Business Magazine.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4"/>
              </a:rPr>
              <a:t>https://www.aden.org/business-magazine/gestion-de-proyectos-tecnicas-de-identificacion-de-riesgos/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Content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(2026, 16 de julio). Análisis de riesgo cualitativo y cuantitativo.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by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SafetyCulture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5"/>
              </a:rPr>
              <a:t>https://mitti.com/es/temas/analisis-cualitativo</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Gutiérrez, A. (2026, 26 de abril). Análisis Cualitativo vs Cuantitativo de Riesgos: Matriz de Decisión. Jefe de Proyectos.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6"/>
              </a:rPr>
              <a:t>https://jefedeproyectos.com/analisis-cualitativo-vs-cuantitativo-riesgos-proyectos/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Atlassian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 f.). ¿Qué es la mitigación de riesgos? Estrategias de gestión de proyectos.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Workstream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7"/>
              </a:rPr>
              <a:t>https://www.atlassian.com/es/work-management/project-management/risk-mitigation</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31 de enero). 5 Key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Mitigation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Techniques</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8"/>
              </a:rPr>
              <a:t>https://riskonnect.com/es/gestion-de-riesgos-del-proyecto/5-tecnicas-clave-de-mitigacion-de-riesgos-en-la-gestion-de-proyectos/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3179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953</Words>
  <Application>Microsoft Office PowerPoint</Application>
  <PresentationFormat>Panorámica</PresentationFormat>
  <Paragraphs>72</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7</cp:revision>
  <dcterms:created xsi:type="dcterms:W3CDTF">2026-09-27T19:04:35Z</dcterms:created>
  <dcterms:modified xsi:type="dcterms:W3CDTF">2026-10-03T01:30:23Z</dcterms:modified>
</cp:coreProperties>
</file>