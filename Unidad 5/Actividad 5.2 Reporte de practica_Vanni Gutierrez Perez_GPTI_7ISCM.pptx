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77" r:id="rId3"/>
    <p:sldId id="291" r:id="rId4"/>
    <p:sldId id="276" r:id="rId5"/>
    <p:sldId id="294" r:id="rId6"/>
    <p:sldId id="296" r:id="rId7"/>
    <p:sldId id="297" r:id="rId8"/>
    <p:sldId id="295" r:id="rId9"/>
    <p:sldId id="292" r:id="rId10"/>
    <p:sldId id="293"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5" d="100"/>
          <a:sy n="85" d="100"/>
        </p:scale>
        <p:origin x="56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E41C18-AD2C-4969-9901-A2D4A458F3E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26C62C0-9BB6-4E28-8349-DFA03D0D65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93AC6341-CD2D-4FCB-B184-ACCD44A5B857}"/>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5" name="Marcador de pie de página 4">
            <a:extLst>
              <a:ext uri="{FF2B5EF4-FFF2-40B4-BE49-F238E27FC236}">
                <a16:creationId xmlns:a16="http://schemas.microsoft.com/office/drawing/2014/main" id="{89E82213-DF2A-4593-BC87-24FC12A7193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D13DFD5-F69A-471A-B74C-5CFD839CCB2E}"/>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2009597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AC01-CF88-4EB7-841C-366DE75D6B8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C4FB58B-639A-44FB-86B1-CAF7F32FC2B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B135484-0FF4-46CF-8271-65B6A4A679AB}"/>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5" name="Marcador de pie de página 4">
            <a:extLst>
              <a:ext uri="{FF2B5EF4-FFF2-40B4-BE49-F238E27FC236}">
                <a16:creationId xmlns:a16="http://schemas.microsoft.com/office/drawing/2014/main" id="{17C3BEF9-D289-4136-8C61-5FF7DAEA926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AF1F1CE-014F-46FA-ACBF-DB0FD29FBA2B}"/>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786273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72C9E8-EEDA-46BE-A9A8-9EFE0043C8D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2336CC1-305A-4F57-8545-F556017DEF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3A1318A-D6AB-4730-A8B7-CD1F5AAB505F}"/>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5" name="Marcador de pie de página 4">
            <a:extLst>
              <a:ext uri="{FF2B5EF4-FFF2-40B4-BE49-F238E27FC236}">
                <a16:creationId xmlns:a16="http://schemas.microsoft.com/office/drawing/2014/main" id="{F22CADF7-AB69-470E-854A-060A754346A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21C1DAE-974C-4E30-8592-5964B83F3191}"/>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4120405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F6E5B3-068E-4AEF-BFE2-F122BBDFBD6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DB29892-E96E-491D-A30D-1AD1C2B2473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4F06B945-59DD-4803-81AF-35C8A285C7C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CFCC0146-9D95-49F5-B15E-7E6052D8F221}"/>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6" name="Marcador de pie de página 5">
            <a:extLst>
              <a:ext uri="{FF2B5EF4-FFF2-40B4-BE49-F238E27FC236}">
                <a16:creationId xmlns:a16="http://schemas.microsoft.com/office/drawing/2014/main" id="{0908CF03-01A2-4CF8-A9AE-2C3B44DEAF3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A5E459A-BB91-4CD7-B917-015D25CB4666}"/>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60052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016D59-B8F7-4555-A119-3075F1AFF2B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0268C6F-CC65-460C-8D59-8C4B8910A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7C7084B-7305-4917-AEB2-4870BF0A24E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31208DD3-C9FF-42D4-AF93-36C8FFC8C1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D71B18E-EDC8-453D-BA1B-A31D2B12091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7089755-60B0-49AC-B282-C182D4F15AD0}"/>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8" name="Marcador de pie de página 7">
            <a:extLst>
              <a:ext uri="{FF2B5EF4-FFF2-40B4-BE49-F238E27FC236}">
                <a16:creationId xmlns:a16="http://schemas.microsoft.com/office/drawing/2014/main" id="{A0EC805F-7DF1-4A47-983B-DE8C75BE0931}"/>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446BBB4C-072A-448B-8570-A3BDDA9C1AFB}"/>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786480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BD96DE-23A9-48E5-B434-A8321CD8C11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1685A8D-F0FF-4FDF-A735-992E67FFBEB2}"/>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4" name="Marcador de pie de página 3">
            <a:extLst>
              <a:ext uri="{FF2B5EF4-FFF2-40B4-BE49-F238E27FC236}">
                <a16:creationId xmlns:a16="http://schemas.microsoft.com/office/drawing/2014/main" id="{72F96F54-40D7-4610-A9D3-98BE9518407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B9853943-A317-4B43-8BCE-558CA036E9E5}"/>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3289525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F9D6DF9-81E0-408A-8E39-9024DDBEFE04}"/>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3" name="Marcador de pie de página 2">
            <a:extLst>
              <a:ext uri="{FF2B5EF4-FFF2-40B4-BE49-F238E27FC236}">
                <a16:creationId xmlns:a16="http://schemas.microsoft.com/office/drawing/2014/main" id="{33BC334A-2D20-407F-8479-0FE616571AD0}"/>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F10E0A5-6338-4FF2-85FA-084B5E8F67F1}"/>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475399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2D09BC-76BB-4AE1-83FE-59731F158B4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46DB7C7-E449-475A-B2BD-EE394D3689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3EB50A51-E57B-4CCE-B870-917D19150E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1663F9D-8D4F-4DFB-97FF-F7607974729A}"/>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6" name="Marcador de pie de página 5">
            <a:extLst>
              <a:ext uri="{FF2B5EF4-FFF2-40B4-BE49-F238E27FC236}">
                <a16:creationId xmlns:a16="http://schemas.microsoft.com/office/drawing/2014/main" id="{596959BD-D94F-4632-B23A-CDDF0FA6AD2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8B6312-4A14-472D-8473-C4126B6A67BB}"/>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417043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E8119-71F6-422B-8E40-7FADAF79248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C8F9879-796D-48F8-BBA9-0FFAD6686F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E35B0C5-E20A-4FE6-83E8-1902B7C096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D47E750-6DD1-4B61-85EE-9B20DD69DD09}"/>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6" name="Marcador de pie de página 5">
            <a:extLst>
              <a:ext uri="{FF2B5EF4-FFF2-40B4-BE49-F238E27FC236}">
                <a16:creationId xmlns:a16="http://schemas.microsoft.com/office/drawing/2014/main" id="{1574148F-3B0E-4715-8312-FF686476EFA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A71A77B-5683-475B-8B03-BDF67E758BAC}"/>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3199794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00A5DD-8D55-4B47-928B-AF6E8C735C6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9EEC82E-05AA-4DEE-B8DB-8DC01CBAA4B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ED94E20-40DE-448D-99E4-B34AF9A61A53}"/>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5" name="Marcador de pie de página 4">
            <a:extLst>
              <a:ext uri="{FF2B5EF4-FFF2-40B4-BE49-F238E27FC236}">
                <a16:creationId xmlns:a16="http://schemas.microsoft.com/office/drawing/2014/main" id="{60F9FE69-7EE5-436C-8BFB-70039154628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E865496-7967-4F54-A6FB-8F2D08687439}"/>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824183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8569AC4-CB6E-45BC-A02C-839895CCB96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FBDF288-2821-49B5-ABC2-19B0840FD59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30F30BC-B21A-4449-B205-416AA9AB460E}"/>
              </a:ext>
            </a:extLst>
          </p:cNvPr>
          <p:cNvSpPr>
            <a:spLocks noGrp="1"/>
          </p:cNvSpPr>
          <p:nvPr>
            <p:ph type="dt" sz="half" idx="10"/>
          </p:nvPr>
        </p:nvSpPr>
        <p:spPr/>
        <p:txBody>
          <a:bodyPr/>
          <a:lstStyle/>
          <a:p>
            <a:fld id="{CBC09593-E9D4-43BC-A294-FA65376E2672}" type="datetimeFigureOut">
              <a:rPr lang="es-MX" smtClean="0"/>
              <a:t>02/10/2026</a:t>
            </a:fld>
            <a:endParaRPr lang="es-MX"/>
          </a:p>
        </p:txBody>
      </p:sp>
      <p:sp>
        <p:nvSpPr>
          <p:cNvPr id="5" name="Marcador de pie de página 4">
            <a:extLst>
              <a:ext uri="{FF2B5EF4-FFF2-40B4-BE49-F238E27FC236}">
                <a16:creationId xmlns:a16="http://schemas.microsoft.com/office/drawing/2014/main" id="{9F7935DC-E8D6-4810-B04F-7F1DCB18E2F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5654B39-6543-45F7-81F4-BD1498EAB613}"/>
              </a:ext>
            </a:extLst>
          </p:cNvPr>
          <p:cNvSpPr>
            <a:spLocks noGrp="1"/>
          </p:cNvSpPr>
          <p:nvPr>
            <p:ph type="sldNum" sz="quarter" idx="12"/>
          </p:nvPr>
        </p:nvSpPr>
        <p:spPr/>
        <p:txBody>
          <a:bodyPr/>
          <a:lstStyle/>
          <a:p>
            <a:fld id="{D317FF1D-64FA-4263-8579-0721E6E9D622}" type="slidenum">
              <a:rPr lang="es-MX" smtClean="0"/>
              <a:t>‹Nº›</a:t>
            </a:fld>
            <a:endParaRPr lang="es-MX"/>
          </a:p>
        </p:txBody>
      </p:sp>
    </p:spTree>
    <p:extLst>
      <p:ext uri="{BB962C8B-B14F-4D97-AF65-F5344CB8AC3E}">
        <p14:creationId xmlns:p14="http://schemas.microsoft.com/office/powerpoint/2010/main" val="2570811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C255301-53C5-404C-956F-C6051816CF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DEF027F-370D-46D9-913C-BBC9F53E8F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9DD42AB-5C15-4820-823C-EC232E2C9A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C09593-E9D4-43BC-A294-FA65376E2672}" type="datetimeFigureOut">
              <a:rPr lang="es-MX" smtClean="0"/>
              <a:t>02/10/2026</a:t>
            </a:fld>
            <a:endParaRPr lang="es-MX"/>
          </a:p>
        </p:txBody>
      </p:sp>
      <p:sp>
        <p:nvSpPr>
          <p:cNvPr id="5" name="Marcador de pie de página 4">
            <a:extLst>
              <a:ext uri="{FF2B5EF4-FFF2-40B4-BE49-F238E27FC236}">
                <a16:creationId xmlns:a16="http://schemas.microsoft.com/office/drawing/2014/main" id="{46F5B62A-B9E9-4C08-9BB4-75EAFB0F2A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011988D-2A30-4F91-87A4-DC75D09A2C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17FF1D-64FA-4263-8579-0721E6E9D622}" type="slidenum">
              <a:rPr lang="es-MX" smtClean="0"/>
              <a:t>‹Nº›</a:t>
            </a:fld>
            <a:endParaRPr lang="es-MX"/>
          </a:p>
        </p:txBody>
      </p:sp>
    </p:spTree>
    <p:extLst>
      <p:ext uri="{BB962C8B-B14F-4D97-AF65-F5344CB8AC3E}">
        <p14:creationId xmlns:p14="http://schemas.microsoft.com/office/powerpoint/2010/main" val="401424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Vanni-GP/GPTI" TargetMode="External"/><Relationship Id="rId1" Type="http://schemas.openxmlformats.org/officeDocument/2006/relationships/slideLayout" Target="../slideLayouts/slideLayout1.xml"/><Relationship Id="rId5" Type="http://schemas.openxmlformats.org/officeDocument/2006/relationships/image" Target="../media/image3.tm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hyperlink" Target="https://riskonnect.com/es/gestion-de-riesgos-del-proyecto/5-tecnicas-clave-de-mitigacion-de-riesgos-en-la-gestion-de-proyectos/" TargetMode="External"/><Relationship Id="rId3" Type="http://schemas.openxmlformats.org/officeDocument/2006/relationships/hyperlink" Target="https://projectmanagementacademy.net/resources/blog/identify-risk-in-project-management/" TargetMode="External"/><Relationship Id="rId7" Type="http://schemas.openxmlformats.org/officeDocument/2006/relationships/hyperlink" Target="https://www.atlassian.com/es/work-management/project-management/risk-mitigation" TargetMode="External"/><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hyperlink" Target="https://jefedeproyectos.com/analisis-cualitativo-vs-cuantitativo-riesgos-proyectos/" TargetMode="External"/><Relationship Id="rId5" Type="http://schemas.openxmlformats.org/officeDocument/2006/relationships/hyperlink" Target="https://mitti.com/es/temas/analisis-cualitativo" TargetMode="External"/><Relationship Id="rId4" Type="http://schemas.openxmlformats.org/officeDocument/2006/relationships/hyperlink" Target="https://www.aden.org/business-magazine/gestion-de-proyectos-tecnicas-de-identificacion-de-riesgo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633F3B5A-AFEC-40C0-8F93-4E0AFBF6F840}"/>
              </a:ext>
            </a:extLst>
          </p:cNvPr>
          <p:cNvSpPr txBox="1"/>
          <p:nvPr/>
        </p:nvSpPr>
        <p:spPr>
          <a:xfrm>
            <a:off x="944880" y="1249493"/>
            <a:ext cx="10668000" cy="5435014"/>
          </a:xfrm>
          <a:prstGeom prst="rect">
            <a:avLst/>
          </a:prstGeom>
          <a:noFill/>
        </p:spPr>
        <p:txBody>
          <a:bodyPr wrap="square">
            <a:spAutoFit/>
          </a:bodyPr>
          <a:lstStyle/>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Instituto Tecnológico de Frontera Comalapa</a:t>
            </a: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Modalidad Mixta</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Materia: </a:t>
            </a:r>
            <a:r>
              <a:rPr lang="es-MX" dirty="0">
                <a:latin typeface="Arial" panose="020B0604020202020204" pitchFamily="34" charset="0"/>
                <a:ea typeface="Calibri" panose="020F0502020204030204" pitchFamily="34" charset="0"/>
                <a:cs typeface="Times New Roman" panose="02020603050405020304" pitchFamily="18" charset="0"/>
              </a:rPr>
              <a:t>Gestión de Proyectos de TI</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Semestre:  </a:t>
            </a:r>
            <a:r>
              <a:rPr lang="es-MX" dirty="0">
                <a:effectLst/>
                <a:latin typeface="Arial" panose="020B0604020202020204" pitchFamily="34" charset="0"/>
                <a:ea typeface="Calibri" panose="020F0502020204030204" pitchFamily="34" charset="0"/>
                <a:cs typeface="Times New Roman" panose="02020603050405020304" pitchFamily="18" charset="0"/>
              </a:rPr>
              <a:t>Séptimo semestre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Especialidad: </a:t>
            </a:r>
            <a:r>
              <a:rPr lang="es-MX" dirty="0">
                <a:effectLst/>
                <a:latin typeface="Arial" panose="020B0604020202020204" pitchFamily="34" charset="0"/>
                <a:ea typeface="Calibri" panose="020F0502020204030204" pitchFamily="34" charset="0"/>
                <a:cs typeface="Times New Roman" panose="02020603050405020304" pitchFamily="18" charset="0"/>
              </a:rPr>
              <a:t>Ingeniería en Sistemas Computacionales.</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Numero de control:</a:t>
            </a:r>
            <a:r>
              <a:rPr lang="es-MX" dirty="0">
                <a:effectLst/>
                <a:latin typeface="Arial" panose="020B0604020202020204" pitchFamily="34" charset="0"/>
                <a:ea typeface="Calibri" panose="020F0502020204030204" pitchFamily="34" charset="0"/>
                <a:cs typeface="Times New Roman" panose="02020603050405020304" pitchFamily="18" charset="0"/>
              </a:rPr>
              <a:t>231260008</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alumno:</a:t>
            </a:r>
            <a:r>
              <a:rPr lang="es-MX" dirty="0">
                <a:effectLst/>
                <a:latin typeface="Arial" panose="020B0604020202020204" pitchFamily="34" charset="0"/>
                <a:ea typeface="Calibri" panose="020F0502020204030204" pitchFamily="34" charset="0"/>
                <a:cs typeface="Times New Roman" panose="02020603050405020304" pitchFamily="18" charset="0"/>
              </a:rPr>
              <a:t> Vanni Gutiérrez Pérez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docente:</a:t>
            </a:r>
            <a:r>
              <a:rPr lang="es-MX" dirty="0">
                <a:effectLst/>
                <a:latin typeface="Arial" panose="020B0604020202020204" pitchFamily="34" charset="0"/>
                <a:ea typeface="Calibri" panose="020F0502020204030204" pitchFamily="34" charset="0"/>
                <a:cs typeface="Times New Roman" panose="02020603050405020304" pitchFamily="18" charset="0"/>
              </a:rPr>
              <a:t> Francisco Javier Mingo Velázquez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r>
              <a:rPr lang="es-MX" b="1" dirty="0">
                <a:effectLst/>
                <a:latin typeface="Arial" panose="020B0604020202020204" pitchFamily="34" charset="0"/>
                <a:ea typeface="Calibri" panose="020F0502020204030204" pitchFamily="34" charset="0"/>
                <a:cs typeface="Times New Roman" panose="02020603050405020304" pitchFamily="18" charset="0"/>
              </a:rPr>
              <a:t>Nombre del trabajo: </a:t>
            </a:r>
            <a:r>
              <a:rPr lang="es-MX" dirty="0">
                <a:effectLst/>
                <a:latin typeface="Arial" panose="020B0604020202020204" pitchFamily="34" charset="0"/>
                <a:ea typeface="Calibri" panose="020F0502020204030204" pitchFamily="34" charset="0"/>
                <a:cs typeface="Times New Roman" panose="02020603050405020304" pitchFamily="18" charset="0"/>
              </a:rPr>
              <a:t>Reporte de Practica: </a:t>
            </a:r>
            <a:r>
              <a:rPr lang="es-ES" dirty="0">
                <a:effectLst/>
                <a:latin typeface="Arial" panose="020B0604020202020204" pitchFamily="34" charset="0"/>
                <a:ea typeface="Calibri" panose="020F0502020204030204" pitchFamily="34" charset="0"/>
                <a:cs typeface="Times New Roman" panose="02020603050405020304" pitchFamily="18" charset="0"/>
              </a:rPr>
              <a:t>Evaluación: </a:t>
            </a:r>
            <a:r>
              <a:rPr lang="es-ES" dirty="0">
                <a:latin typeface="Arial" panose="020B0604020202020204" pitchFamily="34" charset="0"/>
                <a:cs typeface="Arial" panose="020B0604020202020204" pitchFamily="34" charset="0"/>
              </a:rPr>
              <a:t>Cuestionario de Evaluación de Herramientas y Formato de Solicitud de Información / Cambios</a:t>
            </a:r>
          </a:p>
          <a:p>
            <a:pPr algn="ctr"/>
            <a:r>
              <a:rPr lang="es-MX" b="1" dirty="0">
                <a:effectLst/>
                <a:latin typeface="Arial" panose="020B0604020202020204" pitchFamily="34" charset="0"/>
                <a:ea typeface="Calibri" panose="020F0502020204030204" pitchFamily="34" charset="0"/>
                <a:cs typeface="Times New Roman" panose="02020603050405020304" pitchFamily="18" charset="0"/>
              </a:rPr>
              <a:t>Fecha de entrega</a:t>
            </a:r>
            <a:r>
              <a:rPr lang="es-MX" dirty="0">
                <a:effectLst/>
                <a:latin typeface="Arial" panose="020B0604020202020204" pitchFamily="34" charset="0"/>
                <a:ea typeface="Calibri" panose="020F0502020204030204" pitchFamily="34" charset="0"/>
                <a:cs typeface="Times New Roman" panose="02020603050405020304" pitchFamily="18" charset="0"/>
              </a:rPr>
              <a:t>:</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dirty="0">
                <a:effectLst/>
                <a:latin typeface="Arial" panose="020B0604020202020204" pitchFamily="34" charset="0"/>
                <a:ea typeface="Calibri" panose="020F0502020204030204" pitchFamily="34" charset="0"/>
                <a:cs typeface="Times New Roman" panose="02020603050405020304" pitchFamily="18" charset="0"/>
              </a:rPr>
              <a:t>Bella Vista, Chiapas </a:t>
            </a:r>
            <a:r>
              <a:rPr lang="es-MX">
                <a:effectLst/>
                <a:latin typeface="Arial" panose="020B0604020202020204" pitchFamily="34" charset="0"/>
                <a:ea typeface="Calibri" panose="020F0502020204030204" pitchFamily="34" charset="0"/>
                <a:cs typeface="Times New Roman" panose="02020603050405020304" pitchFamily="18" charset="0"/>
              </a:rPr>
              <a:t>a 26</a:t>
            </a:r>
            <a:r>
              <a:rPr lang="es-MX">
                <a:latin typeface="Arial" panose="020B0604020202020204" pitchFamily="34" charset="0"/>
                <a:ea typeface="Calibri" panose="020F0502020204030204" pitchFamily="34" charset="0"/>
                <a:cs typeface="Times New Roman" panose="02020603050405020304" pitchFamily="18" charset="0"/>
              </a:rPr>
              <a:t> </a:t>
            </a:r>
            <a:r>
              <a:rPr lang="es-MX" dirty="0">
                <a:latin typeface="Arial" panose="020B0604020202020204" pitchFamily="34" charset="0"/>
                <a:ea typeface="Calibri" panose="020F0502020204030204" pitchFamily="34" charset="0"/>
                <a:cs typeface="Times New Roman" panose="02020603050405020304" pitchFamily="18" charset="0"/>
              </a:rPr>
              <a:t>de septiembre del 2026</a:t>
            </a:r>
          </a:p>
          <a:p>
            <a:pPr algn="ctr">
              <a:lnSpc>
                <a:spcPct val="106000"/>
              </a:lnSpc>
              <a:spcAft>
                <a:spcPts val="800"/>
              </a:spcAft>
            </a:pP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sz="1400" dirty="0">
                <a:latin typeface="Arial" panose="020B0604020202020204" pitchFamily="34" charset="0"/>
                <a:ea typeface="Calibri" panose="020F0502020204030204" pitchFamily="34" charset="0"/>
                <a:cs typeface="Times New Roman" panose="02020603050405020304" pitchFamily="18" charset="0"/>
              </a:rPr>
              <a:t>Repositorio GIT: </a:t>
            </a:r>
            <a:r>
              <a:rPr lang="es-MX" sz="1400" dirty="0">
                <a:hlinkClick r:id="rId2"/>
              </a:rPr>
              <a:t>Vanni-GP/GPTI</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2.png">
            <a:extLst>
              <a:ext uri="{FF2B5EF4-FFF2-40B4-BE49-F238E27FC236}">
                <a16:creationId xmlns:a16="http://schemas.microsoft.com/office/drawing/2014/main" id="{C530A503-595F-4484-BDAD-B0E49C5BE2D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440940" y="509349"/>
            <a:ext cx="2528570" cy="566420"/>
          </a:xfrm>
          <a:prstGeom prst="rect">
            <a:avLst/>
          </a:prstGeom>
        </p:spPr>
      </p:pic>
      <p:pic>
        <p:nvPicPr>
          <p:cNvPr id="10" name="image3.png">
            <a:extLst>
              <a:ext uri="{FF2B5EF4-FFF2-40B4-BE49-F238E27FC236}">
                <a16:creationId xmlns:a16="http://schemas.microsoft.com/office/drawing/2014/main" id="{9257A986-D344-4C09-A410-5B24351FDFDD}"/>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682615" y="261805"/>
            <a:ext cx="1755140" cy="859155"/>
          </a:xfrm>
          <a:prstGeom prst="rect">
            <a:avLst/>
          </a:prstGeom>
        </p:spPr>
      </p:pic>
      <p:pic>
        <p:nvPicPr>
          <p:cNvPr id="11" name="image4.jpeg">
            <a:extLst>
              <a:ext uri="{FF2B5EF4-FFF2-40B4-BE49-F238E27FC236}">
                <a16:creationId xmlns:a16="http://schemas.microsoft.com/office/drawing/2014/main" id="{09C089BE-883F-41F0-A2C0-16298D0B23F9}"/>
              </a:ext>
            </a:extLst>
          </p:cNvPr>
          <p:cNvPicPr/>
          <p:nvPr/>
        </p:nvPicPr>
        <p:blipFill>
          <a:blip r:embed="rId5"/>
          <a:stretch>
            <a:fillRect/>
          </a:stretch>
        </p:blipFill>
        <p:spPr>
          <a:xfrm>
            <a:off x="7830820" y="295275"/>
            <a:ext cx="1179830" cy="844773"/>
          </a:xfrm>
          <a:prstGeom prst="rect">
            <a:avLst/>
          </a:prstGeom>
        </p:spPr>
      </p:pic>
    </p:spTree>
    <p:extLst>
      <p:ext uri="{BB962C8B-B14F-4D97-AF65-F5344CB8AC3E}">
        <p14:creationId xmlns:p14="http://schemas.microsoft.com/office/powerpoint/2010/main" val="4210877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447675" y="941629"/>
            <a:ext cx="10944225" cy="3582746"/>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5124450" y="467315"/>
            <a:ext cx="1943100" cy="2552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INTRODUCCIÓN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542925" y="941629"/>
            <a:ext cx="10706100" cy="3365024"/>
          </a:xfrm>
          <a:prstGeom prst="rect">
            <a:avLst/>
          </a:prstGeom>
          <a:noFill/>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En este primer reporte de la Unidad 5 presento el diseño de los formatos de levantamiento que utilicé para recopilar información de los tres proyectos que administro (</a:t>
            </a:r>
            <a:r>
              <a:rPr lang="es-ES" dirty="0" err="1">
                <a:latin typeface="Arial" panose="020B0604020202020204" pitchFamily="34" charset="0"/>
                <a:cs typeface="Arial" panose="020B0604020202020204" pitchFamily="34" charset="0"/>
              </a:rPr>
              <a:t>Multired</a:t>
            </a:r>
            <a:r>
              <a:rPr lang="es-ES" dirty="0">
                <a:latin typeface="Arial" panose="020B0604020202020204" pitchFamily="34" charset="0"/>
                <a:cs typeface="Arial" panose="020B0604020202020204" pitchFamily="34" charset="0"/>
              </a:rPr>
              <a:t>, Empresa Corona y Aeropuerto). Como gestor, antes de elegir un programa o autorizar cambios en los diagramas, armé dos formatos sencillos: un cuestionario para evaluar qué tan fácil y útil es usar Microsoft Project, Jira o Trello, y una ficha de Solicitud de Información o Cambio para que el equipo me pida ajustes o aclaraciones sobre su trabajo. Este documento muestra cómo estructuré estas preguntas breves y directas para aplicárselas a Cynthia, a </a:t>
            </a:r>
            <a:r>
              <a:rPr lang="es-ES" dirty="0" err="1">
                <a:latin typeface="Arial" panose="020B0604020202020204" pitchFamily="34" charset="0"/>
                <a:cs typeface="Arial" panose="020B0604020202020204" pitchFamily="34" charset="0"/>
              </a:rPr>
              <a:t>Darvin</a:t>
            </a:r>
            <a:r>
              <a:rPr lang="es-ES" dirty="0">
                <a:latin typeface="Arial" panose="020B0604020202020204" pitchFamily="34" charset="0"/>
                <a:cs typeface="Arial" panose="020B0604020202020204" pitchFamily="34" charset="0"/>
              </a:rPr>
              <a:t> y a mí mismo, manteniendo bajo control las 74.5 horas de desarrollo y el presupuesto de $3,725.00 MXN en los plazos fijados de 11, 10 y 9 días.</a:t>
            </a:r>
          </a:p>
        </p:txBody>
      </p:sp>
    </p:spTree>
    <p:extLst>
      <p:ext uri="{BB962C8B-B14F-4D97-AF65-F5344CB8AC3E}">
        <p14:creationId xmlns:p14="http://schemas.microsoft.com/office/powerpoint/2010/main" val="2333110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1104900" y="1240899"/>
            <a:ext cx="9780968" cy="3540651"/>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5014912" y="516275"/>
            <a:ext cx="1943100" cy="2552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JUSTIFICACIÓN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1306132" y="1240899"/>
            <a:ext cx="9360660" cy="3365024"/>
          </a:xfrm>
          <a:prstGeom prst="rect">
            <a:avLst/>
          </a:prstGeom>
          <a:noFill/>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Diseñé estos formatos antes de tomar decisiones porque en la gestión de proyectos no se pueden cambiar cosas ni imponer programas a la fuerza sin preguntar primero a los desarrolladores. Hacer preguntas cortas y fáciles de entender me permitió saber con rapidez si una herramienta como Jira o Trello realmente ayuda al equipo o solo le hace perder tiempo en configuraciones. Asimismo, tener una ficha simple para pedir cambios o información evita que cada quien modifique sus diagramas sin avisar o cambie las fechas acordadas. De esta manera, el proceso de recolección es claro, rápido y no le quita tiempo de trabajo a nadie.</a:t>
            </a:r>
          </a:p>
        </p:txBody>
      </p:sp>
    </p:spTree>
    <p:extLst>
      <p:ext uri="{BB962C8B-B14F-4D97-AF65-F5344CB8AC3E}">
        <p14:creationId xmlns:p14="http://schemas.microsoft.com/office/powerpoint/2010/main" val="2832914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8354646"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REPORTE DE DISEÑO DE FORMATOS DE LEVANTAMIENTO</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402111"/>
            <a:ext cx="10872788" cy="646331"/>
          </a:xfrm>
          <a:prstGeom prst="rect">
            <a:avLst/>
          </a:prstGeom>
          <a:noFill/>
        </p:spPr>
        <p:txBody>
          <a:bodyPr wrap="square">
            <a:spAutoFit/>
          </a:bodyPr>
          <a:lstStyle/>
          <a:p>
            <a:pPr algn="just"/>
            <a:r>
              <a:rPr lang="es-ES" dirty="0">
                <a:latin typeface="Arial" panose="020B0604020202020204" pitchFamily="34" charset="0"/>
                <a:cs typeface="Arial" panose="020B0604020202020204" pitchFamily="34" charset="0"/>
              </a:rPr>
              <a:t>Para recopilar la información sin rodeos, armé dos cuestionarios breves con preguntas claras que se entienden a la primera.</a:t>
            </a:r>
          </a:p>
        </p:txBody>
      </p:sp>
      <p:pic>
        <p:nvPicPr>
          <p:cNvPr id="7" name="Imagen 6">
            <a:extLst>
              <a:ext uri="{FF2B5EF4-FFF2-40B4-BE49-F238E27FC236}">
                <a16:creationId xmlns:a16="http://schemas.microsoft.com/office/drawing/2014/main" id="{568FCAF0-3991-4EA7-8D65-A536009CEB83}"/>
              </a:ext>
            </a:extLst>
          </p:cNvPr>
          <p:cNvPicPr>
            <a:picLocks noChangeAspect="1"/>
          </p:cNvPicPr>
          <p:nvPr/>
        </p:nvPicPr>
        <p:blipFill>
          <a:blip r:embed="rId4"/>
          <a:stretch>
            <a:fillRect/>
          </a:stretch>
        </p:blipFill>
        <p:spPr>
          <a:xfrm>
            <a:off x="6402643" y="3736395"/>
            <a:ext cx="2417507" cy="491258"/>
          </a:xfrm>
          <a:prstGeom prst="rect">
            <a:avLst/>
          </a:prstGeom>
        </p:spPr>
      </p:pic>
      <p:pic>
        <p:nvPicPr>
          <p:cNvPr id="3" name="Imagen 2">
            <a:extLst>
              <a:ext uri="{FF2B5EF4-FFF2-40B4-BE49-F238E27FC236}">
                <a16:creationId xmlns:a16="http://schemas.microsoft.com/office/drawing/2014/main" id="{1F5F2007-2F44-4F4B-A2DA-D42A951FEDB9}"/>
              </a:ext>
            </a:extLst>
          </p:cNvPr>
          <p:cNvPicPr>
            <a:picLocks noChangeAspect="1"/>
          </p:cNvPicPr>
          <p:nvPr/>
        </p:nvPicPr>
        <p:blipFill>
          <a:blip r:embed="rId5"/>
          <a:stretch>
            <a:fillRect/>
          </a:stretch>
        </p:blipFill>
        <p:spPr>
          <a:xfrm>
            <a:off x="2982994" y="2536526"/>
            <a:ext cx="6226011" cy="29794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8354646"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FORMATO 1: CUESTIONARIO DE ELECCIÓN DE HERRAMIENTAS</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402111"/>
            <a:ext cx="10872788" cy="2308324"/>
          </a:xfrm>
          <a:prstGeom prst="rect">
            <a:avLst/>
          </a:prstGeom>
          <a:noFill/>
        </p:spPr>
        <p:txBody>
          <a:bodyPr wrap="square">
            <a:spAutoFit/>
          </a:bodyPr>
          <a:lstStyle/>
          <a:p>
            <a:pPr algn="just"/>
            <a:r>
              <a:rPr lang="es-ES" dirty="0">
                <a:latin typeface="Arial" panose="020B0604020202020204" pitchFamily="34" charset="0"/>
                <a:cs typeface="Arial" panose="020B0604020202020204" pitchFamily="34" charset="0"/>
              </a:rPr>
              <a:t>Estructuré estas 5 preguntas cortas para saber qué programa le conviene más a cada responsable:</a:t>
            </a: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Cuestionario de Herramientas Tecnológicas </a:t>
            </a:r>
          </a:p>
          <a:p>
            <a:pPr algn="just"/>
            <a:r>
              <a:rPr lang="es-ES" dirty="0">
                <a:latin typeface="Arial" panose="020B0604020202020204" pitchFamily="34" charset="0"/>
                <a:cs typeface="Arial" panose="020B0604020202020204" pitchFamily="34" charset="0"/>
              </a:rPr>
              <a:t>¿Qué tan fácil y rápido sientes que es usar la herramienta? </a:t>
            </a:r>
          </a:p>
          <a:p>
            <a:pPr algn="just"/>
            <a:r>
              <a:rPr lang="es-ES" dirty="0">
                <a:latin typeface="Arial" panose="020B0604020202020204" pitchFamily="34" charset="0"/>
                <a:cs typeface="Arial" panose="020B0604020202020204" pitchFamily="34" charset="0"/>
              </a:rPr>
              <a:t>¿Te deja ver claro qué tareas tienes pendientes, cuáles vas haciendo y cuáles ya terminaste? </a:t>
            </a:r>
          </a:p>
          <a:p>
            <a:pPr algn="just"/>
            <a:r>
              <a:rPr lang="es-ES" dirty="0">
                <a:latin typeface="Arial" panose="020B0604020202020204" pitchFamily="34" charset="0"/>
                <a:cs typeface="Arial" panose="020B0604020202020204" pitchFamily="34" charset="0"/>
              </a:rPr>
              <a:t>¿Te sirve el programa para saber si vas a tiempo o retrasado con tus días entregables? </a:t>
            </a:r>
          </a:p>
          <a:p>
            <a:pPr algn="just"/>
            <a:r>
              <a:rPr lang="es-ES" dirty="0">
                <a:latin typeface="Arial" panose="020B0604020202020204" pitchFamily="34" charset="0"/>
                <a:cs typeface="Arial" panose="020B0604020202020204" pitchFamily="34" charset="0"/>
              </a:rPr>
              <a:t>¿Prefieres un tablero sencillo con tarjetas o un programa más complejo que mida costos y fórmulas? </a:t>
            </a:r>
          </a:p>
          <a:p>
            <a:pPr algn="just"/>
            <a:r>
              <a:rPr lang="es-ES" dirty="0">
                <a:latin typeface="Arial" panose="020B0604020202020204" pitchFamily="34" charset="0"/>
                <a:cs typeface="Arial" panose="020B0604020202020204" pitchFamily="34" charset="0"/>
              </a:rPr>
              <a:t>¿Qué problema le ves a usar Microsoft Project, Trello o Jira en tu proyecto?</a:t>
            </a:r>
          </a:p>
        </p:txBody>
      </p:sp>
      <p:pic>
        <p:nvPicPr>
          <p:cNvPr id="3" name="Imagen 2">
            <a:extLst>
              <a:ext uri="{FF2B5EF4-FFF2-40B4-BE49-F238E27FC236}">
                <a16:creationId xmlns:a16="http://schemas.microsoft.com/office/drawing/2014/main" id="{580204EF-F492-4414-81EF-A2D8C6D62FE0}"/>
              </a:ext>
            </a:extLst>
          </p:cNvPr>
          <p:cNvPicPr>
            <a:picLocks noChangeAspect="1"/>
          </p:cNvPicPr>
          <p:nvPr/>
        </p:nvPicPr>
        <p:blipFill>
          <a:blip r:embed="rId4"/>
          <a:stretch>
            <a:fillRect/>
          </a:stretch>
        </p:blipFill>
        <p:spPr>
          <a:xfrm>
            <a:off x="3961750" y="3871392"/>
            <a:ext cx="4016088" cy="2461473"/>
          </a:xfrm>
          <a:prstGeom prst="rect">
            <a:avLst/>
          </a:prstGeom>
        </p:spPr>
      </p:pic>
    </p:spTree>
    <p:extLst>
      <p:ext uri="{BB962C8B-B14F-4D97-AF65-F5344CB8AC3E}">
        <p14:creationId xmlns:p14="http://schemas.microsoft.com/office/powerpoint/2010/main" val="3390529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8354646"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FORMATO 2: SOLICITUD DE INFORMACIÓN O CAMBIO (CR)</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402111"/>
            <a:ext cx="10872788" cy="4524315"/>
          </a:xfrm>
          <a:prstGeom prst="rect">
            <a:avLst/>
          </a:prstGeom>
          <a:noFill/>
        </p:spPr>
        <p:txBody>
          <a:bodyPr wrap="square">
            <a:spAutoFit/>
          </a:bodyPr>
          <a:lstStyle/>
          <a:p>
            <a:pPr algn="just"/>
            <a:r>
              <a:rPr lang="es-ES" dirty="0">
                <a:latin typeface="Arial" panose="020B0604020202020204" pitchFamily="34" charset="0"/>
                <a:cs typeface="Arial" panose="020B0604020202020204" pitchFamily="34" charset="0"/>
              </a:rPr>
              <a:t>Para que el equipo me pida información o propone un ajuste en sus diagramas, diseñé este formato rápido:</a:t>
            </a: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Solicitud de Información / Cambio Técnico</a:t>
            </a: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ID de Solicitud: CR-__            Fecha: ______/__________/______</a:t>
            </a:r>
          </a:p>
          <a:p>
            <a:pPr algn="just"/>
            <a:r>
              <a:rPr lang="es-ES" dirty="0">
                <a:latin typeface="Arial" panose="020B0604020202020204" pitchFamily="34" charset="0"/>
                <a:cs typeface="Arial" panose="020B0604020202020204" pitchFamily="34" charset="0"/>
              </a:rPr>
              <a:t>Proyecto [] </a:t>
            </a:r>
            <a:r>
              <a:rPr lang="es-ES" dirty="0" err="1">
                <a:latin typeface="Arial" panose="020B0604020202020204" pitchFamily="34" charset="0"/>
                <a:cs typeface="Arial" panose="020B0604020202020204" pitchFamily="34" charset="0"/>
              </a:rPr>
              <a:t>Multired</a:t>
            </a:r>
            <a:r>
              <a:rPr lang="es-ES" dirty="0">
                <a:latin typeface="Arial" panose="020B0604020202020204" pitchFamily="34" charset="0"/>
                <a:cs typeface="Arial" panose="020B0604020202020204" pitchFamily="34" charset="0"/>
              </a:rPr>
              <a:t>     [] Empresa Corona      [] </a:t>
            </a:r>
            <a:r>
              <a:rPr lang="es-ES" dirty="0" err="1">
                <a:latin typeface="Arial" panose="020B0604020202020204" pitchFamily="34" charset="0"/>
                <a:cs typeface="Arial" panose="020B0604020202020204" pitchFamily="34" charset="0"/>
              </a:rPr>
              <a:t>Aereopuerto</a:t>
            </a:r>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Solicitante:_________________________________________________</a:t>
            </a: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¿Qué información pides o qué cambio quieres hacer en tu diagrama?</a:t>
            </a: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¿Por qué razón necesitas esa información o ese ajuste?</a:t>
            </a: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¿Cuántas horas o días extra te tomaría hacer ese cambio?</a:t>
            </a: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¿Este cambio mueve o no tu fecha de entrega final en Microsoft Project?</a:t>
            </a:r>
          </a:p>
        </p:txBody>
      </p:sp>
    </p:spTree>
    <p:extLst>
      <p:ext uri="{BB962C8B-B14F-4D97-AF65-F5344CB8AC3E}">
        <p14:creationId xmlns:p14="http://schemas.microsoft.com/office/powerpoint/2010/main" val="1617939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8354646"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FLUJO DE DECISIÓN EN DRAW.IO</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402111"/>
            <a:ext cx="10872788" cy="646331"/>
          </a:xfrm>
          <a:prstGeom prst="rect">
            <a:avLst/>
          </a:prstGeom>
          <a:noFill/>
        </p:spPr>
        <p:txBody>
          <a:bodyPr wrap="square">
            <a:spAutoFit/>
          </a:bodyPr>
          <a:lstStyle/>
          <a:p>
            <a:pPr algn="just"/>
            <a:r>
              <a:rPr lang="es-ES" dirty="0">
                <a:latin typeface="Arial" panose="020B0604020202020204" pitchFamily="34" charset="0"/>
                <a:cs typeface="Arial" panose="020B0604020202020204" pitchFamily="34" charset="0"/>
              </a:rPr>
              <a:t>Para representar cómo proceso como gestor las respuestas de estos formatos, armé este diagrama en Draw.io:</a:t>
            </a:r>
          </a:p>
        </p:txBody>
      </p:sp>
      <p:pic>
        <p:nvPicPr>
          <p:cNvPr id="3" name="Imagen 2">
            <a:extLst>
              <a:ext uri="{FF2B5EF4-FFF2-40B4-BE49-F238E27FC236}">
                <a16:creationId xmlns:a16="http://schemas.microsoft.com/office/drawing/2014/main" id="{586A21ED-F80D-48A3-99CE-B5C6BB229ED7}"/>
              </a:ext>
            </a:extLst>
          </p:cNvPr>
          <p:cNvPicPr>
            <a:picLocks noChangeAspect="1"/>
          </p:cNvPicPr>
          <p:nvPr/>
        </p:nvPicPr>
        <p:blipFill>
          <a:blip r:embed="rId4"/>
          <a:stretch>
            <a:fillRect/>
          </a:stretch>
        </p:blipFill>
        <p:spPr>
          <a:xfrm>
            <a:off x="2492188" y="2048442"/>
            <a:ext cx="7672442" cy="4432967"/>
          </a:xfrm>
          <a:prstGeom prst="rect">
            <a:avLst/>
          </a:prstGeom>
        </p:spPr>
      </p:pic>
    </p:spTree>
    <p:extLst>
      <p:ext uri="{BB962C8B-B14F-4D97-AF65-F5344CB8AC3E}">
        <p14:creationId xmlns:p14="http://schemas.microsoft.com/office/powerpoint/2010/main" val="3976014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8354646"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CUADRO COMPARATIVO DE FORMATOS DISEÑADOS</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pic>
        <p:nvPicPr>
          <p:cNvPr id="3" name="Imagen 2">
            <a:extLst>
              <a:ext uri="{FF2B5EF4-FFF2-40B4-BE49-F238E27FC236}">
                <a16:creationId xmlns:a16="http://schemas.microsoft.com/office/drawing/2014/main" id="{0ADEC750-C7AB-477F-BEB2-D74E0393BA27}"/>
              </a:ext>
            </a:extLst>
          </p:cNvPr>
          <p:cNvPicPr>
            <a:picLocks noChangeAspect="1"/>
          </p:cNvPicPr>
          <p:nvPr/>
        </p:nvPicPr>
        <p:blipFill rotWithShape="1">
          <a:blip r:embed="rId4"/>
          <a:srcRect l="937"/>
          <a:stretch/>
        </p:blipFill>
        <p:spPr>
          <a:xfrm>
            <a:off x="952638" y="1444979"/>
            <a:ext cx="10235313" cy="4989652"/>
          </a:xfrm>
          <a:prstGeom prst="rect">
            <a:avLst/>
          </a:prstGeom>
        </p:spPr>
      </p:pic>
    </p:spTree>
    <p:extLst>
      <p:ext uri="{BB962C8B-B14F-4D97-AF65-F5344CB8AC3E}">
        <p14:creationId xmlns:p14="http://schemas.microsoft.com/office/powerpoint/2010/main" val="2614046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1104900" y="1240900"/>
            <a:ext cx="9780968" cy="2703572"/>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5014912" y="516275"/>
            <a:ext cx="1943100" cy="2552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a:t>
            </a:r>
            <a:r>
              <a:rPr lang="es-MX" sz="1600" b="1" dirty="0">
                <a:solidFill>
                  <a:schemeClr val="tx1"/>
                </a:solidFill>
                <a:latin typeface="Arial" panose="020B0604020202020204" pitchFamily="34" charset="0"/>
                <a:cs typeface="Arial" panose="020B0604020202020204" pitchFamily="34" charset="0"/>
              </a:rPr>
              <a:t>ONCLUSIÓN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1306132" y="1240899"/>
            <a:ext cx="9360660" cy="2534027"/>
          </a:xfrm>
          <a:prstGeom prst="rect">
            <a:avLst/>
          </a:prstGeom>
          <a:noFill/>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Diseñar estos formatos con preguntas cortas y sencillas nos dio una forma clara de comunicarnos sin perder tiempo. El primer cuestionario sirve para conocer de forma directa qué herramientas le acomodan a cada quien, mientras que la ficha de cambios permite controlar cualquier ajuste antes de que mueva las fechas. De esta forma, tengo como gestor los instrumentos necesarios para aplicar las preguntas en el siguiente reporte y cuidar que no se alteren los $3,725.00 MXN ni las 74.5 horas acordadas.</a:t>
            </a:r>
          </a:p>
        </p:txBody>
      </p:sp>
    </p:spTree>
    <p:extLst>
      <p:ext uri="{BB962C8B-B14F-4D97-AF65-F5344CB8AC3E}">
        <p14:creationId xmlns:p14="http://schemas.microsoft.com/office/powerpoint/2010/main" val="2931467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1104900" y="1240899"/>
            <a:ext cx="9780968" cy="4988451"/>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4502944" y="525800"/>
            <a:ext cx="3186112" cy="3314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FUENTES DE INFORMACIÓN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1306132" y="1551146"/>
            <a:ext cx="9360660" cy="4678204"/>
          </a:xfrm>
          <a:prstGeom prst="rect">
            <a:avLst/>
          </a:prstGeom>
          <a:noFill/>
        </p:spPr>
        <p:txBody>
          <a:bodyPr wrap="square">
            <a:spAutoFit/>
          </a:bodyPr>
          <a:lstStyle/>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Aldridge</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 (s. f.).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Identification</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Project Management. Project Management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Academy</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3"/>
              </a:rPr>
              <a:t>https://projectmanagementacademy.net/resources/blog/identify-risk-in-project-management/</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ADEN International Business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School</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(2025, 13 de junio). Evaluación y Riesgos en Gestión de Proyectos. ADEN Business Magazine.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4"/>
              </a:rPr>
              <a:t>https://www.aden.org/business-magazine/gestion-de-proyectos-tecnicas-de-identificacion-de-riesgos/</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Mitti</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Content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Team</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(2026, 16 de julio). Análisis de riesgo cualitativo y cuantitativo.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Mitti</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by</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SafetyCulture</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5"/>
              </a:rPr>
              <a:t>https://mitti.com/es/temas/analisis-cualitativo</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Gutiérrez, A. (2026, 26 de abril). Análisis Cualitativo vs Cuantitativo de Riesgos: Matriz de Decisión. Jefe de Proyectos.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6"/>
              </a:rPr>
              <a:t>https://jefedeproyectos.com/analisis-cualitativo-vs-cuantitativo-riesgos-proyectos/</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Atlassian</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 f.). ¿Qué es la mitigación de riesgos? Estrategias de gestión de proyectos.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Workstream</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7"/>
              </a:rPr>
              <a:t>https://www.atlassian.com/es/work-management/project-management/risk-mitigation</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Riskonnect</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(2025, 31 de enero). 5 Key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Mitigation</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Techniques</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Project Management. </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Riskonnect</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8"/>
              </a:rPr>
              <a:t>https://riskonnect.com/es/gestion-de-riesgos-del-proyecto/5-tecnicas-clave-de-mitigacion-de-riesgos-en-la-gestion-de-proyectos/</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3179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922</Words>
  <Application>Microsoft Office PowerPoint</Application>
  <PresentationFormat>Panorámica</PresentationFormat>
  <Paragraphs>58</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Calibri Light</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VANNI GUTIÉRREZ PÉREZ</dc:creator>
  <cp:lastModifiedBy>VANNI GUTIÉRREZ PÉREZ</cp:lastModifiedBy>
  <cp:revision>7</cp:revision>
  <dcterms:created xsi:type="dcterms:W3CDTF">2026-09-27T14:58:06Z</dcterms:created>
  <dcterms:modified xsi:type="dcterms:W3CDTF">2026-10-03T01:29:36Z</dcterms:modified>
</cp:coreProperties>
</file>